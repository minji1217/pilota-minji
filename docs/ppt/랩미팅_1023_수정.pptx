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8" r:id="rId18"/>
    <p:sldId id="269" r:id="rId19"/>
    <p:sldId id="266" r:id="rId16"/>
    <p:sldId id="267" r:id="rId17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074f234a17266c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074f234a17266c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074f234a17266c9_2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2074f234a17266c9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 비교 모두 그 변화 하나만 바꾸고, 나머지는 다 최신 기준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기존 : usgs칸의 중심점이 그 시정촌 안이면 그 usgs의 확률 포함 ( 물도 포함)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불확실도 바꾸기 전 : 우리 250m 칸 (경사칸)의 중심점이 그 시정촌 안이면 그 usgs의 불확실도 포함  ( 물 제외)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-&gt; 바꾸고난 후 : 사전확률과 똑같이 usgs칸의 불확실도 칸 중심점이 그 시정촌 안이면 그 불확실도 포함 (물도 포함)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=&gt; usgs 산사태 : 230mx 170~195m , usgs 액상화 : 460m x 340~390m, 우리 250m 경사칸 : 230m x 260~290m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*DPM 화소 : 40mx40m (250m칸 하나에 약 41개)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7efa79a5e7ae1e3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7efa79a5e7ae1e3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현재 BD 있음 : 사전확률 이용한거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현재  BD 없음 : 지금 우리가 계속 사용할 불확실도로만 끄기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2074f234a17266c9_2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2074f234a17266c9_2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usgs</a:t>
            </a:r>
            <a:r>
              <a:rPr lang="ko"/>
              <a:t>가 계산한 칸 = 불확실도가 0이나 999가 아닌 칸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2074f234a17266c9_2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2074f234a17266c9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2074f234a17266c9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2074f234a17266c9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DNU</a:t>
            </a:r>
            <a:r>
              <a:rPr lang="ko"/>
              <a:t>와 DNU_분산만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B0B0B"/>
                </a:solidFill>
              </a:rPr>
              <a:t>usgs 불확실도에서 0 또는 999가 그 시정촌에 있는 픽셀들에 다 0 또는 999라서 그 시정촌이 꺼졌는데 정답은 없었다 </a:t>
            </a:r>
            <a:br>
              <a:rPr lang="ko" sz="1050">
                <a:solidFill>
                  <a:srgbClr val="0B0B0B"/>
                </a:solidFill>
              </a:rPr>
            </a:br>
            <a:br>
              <a:rPr lang="ko" sz="1050">
                <a:solidFill>
                  <a:srgbClr val="0B0B0B"/>
                </a:solidFill>
              </a:rPr>
            </a:br>
            <a:r>
              <a:rPr lang="ko" sz="1050">
                <a:solidFill>
                  <a:srgbClr val="0B0B0B"/>
                </a:solidFill>
              </a:rPr>
              <a:t>끄기(불확실도가 0·999뿐인 시정촌을 0으로 고정)는 효과가 작다: 산사태로 꺼지는 5곳은 모두 산사태 평가 대상이 아니고, 액상화로 꺼지는 11곳은 모두 노토의 "피해 없음" 시정촌으로 평가 대상의 7%뿐이다.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2074f234a17266c9_2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2074f234a17266c9_2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2074f234a17266c9_2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2074f234a17266c9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soft</a:t>
            </a:r>
            <a:r>
              <a:rPr lang="ko"/>
              <a:t>와 LOCAL의 기준인 경사가 250m 픽셀 기준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DPM은 40m를 250m로 모으기도 쉽고, 계산량 땜에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시정촌 단위	칸 단위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결정	포함	제외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이유	평균이라 물 영향이 작고, 직접 만든 사전확률 표도 물 포함	최댓값으로 모으므로 DPM이 튀는 물 칸 하나가 시정촌 값을 차지할 수 있음. 물 위에서는 재해가 없고 원본 LOCAL도 물은 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물 칸 판정	국토수치정보 토지이용(100 m, 지진 전 최신판)에서 하천·호소 · 해수역. 250 m 칸 안에 중심점이 든 100 m 칸의 절반 이상이 물이면 물 칸 (약 2.5%)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확인	시정촌 DPM에서 물을 빼고 10개 실험을 다시 돌림 (전체 AUC, 물 포함 → 물 제외): ① 0.622 → 0.619, ② 0.683 → 0.693, ③ 0.690 → 0.675, ④ 0.739 → 0.737, DNU_끄기만 0.637 → 0.635, DNU_분산만 0.686 → 0.699, SOFTU_끄기만 0.722 → 0.711, SOFTU_분산만 0.743 → 0.746, 같은 분산 0.01 0.657 → 0.643, 0.001 0.616 → 0.616. 차이 −0.015 ~ +0.013, 방향 없음 → 영향 거의 없음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7efa79a5e7ae1e3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7efa79a5e7ae1e3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네, </a:t>
            </a:r>
            <a:r>
              <a:rPr b="1" lang="ko">
                <a:solidFill>
                  <a:schemeClr val="dk1"/>
                </a:solidFill>
              </a:rPr>
              <a:t>다섯 지진에 들어간 시정촌 264곳의 250 m 칸을 전부 합쳐서</a:t>
            </a:r>
            <a:r>
              <a:rPr lang="ko">
                <a:solidFill>
                  <a:schemeClr val="dk1"/>
                </a:solidFill>
              </a:rPr>
              <a:t> 센 비율입니다.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전체 250 m 칸: 1,054,225개 (지진 × 칸)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그중 물 칸: 26,829개 → </a:t>
            </a:r>
            <a:r>
              <a:rPr b="1" lang="ko">
                <a:solidFill>
                  <a:schemeClr val="dk1"/>
                </a:solidFill>
              </a:rPr>
              <a:t>2.54%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물 칸은 재해가 일어날 수 없는데 DPM은 튀어서, 학습과 최댓값 집계 모두에 잡음이 됩니다. 그래서 칸 단위에서는 학습 단계부터 뺐습니다. 섞기는 학습을 새로 하지 않고 채점만 다르게 한 것이고, 액상화는 여전히 최댓값이라 물을 빼는 이유는 그대로입니다.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7efa79a5e7ae1e3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7efa79a5e7ae1e3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48f2d3f6f6623c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48f2d3f6f6623c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48f2d3f6f6623c8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48f2d3f6f6623c8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재난 파일럿 프로젝트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진행상황 공유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26.10.22(목) 5PM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3093" y="45549"/>
            <a:ext cx="3502483" cy="11388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" name="Google Shape;61;p14"/>
          <p:cNvSpPr txBox="1"/>
          <p:nvPr>
            <p:ph idx="4294967295" type="title"/>
          </p:nvPr>
        </p:nvSpPr>
        <p:spPr>
          <a:xfrm>
            <a:off x="0" y="0"/>
            <a:ext cx="2911800" cy="14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0396"/>
              <a:buNone/>
            </a:pPr>
            <a:r>
              <a:rPr b="1" lang="ko" sz="1964"/>
              <a:t>지난 실험과 달라진 점 </a:t>
            </a:r>
            <a:endParaRPr b="1" sz="196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2"/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42"/>
              <a:t>1. 끄기 </a:t>
            </a:r>
            <a:endParaRPr b="1" sz="1742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0"/>
          </a:p>
        </p:txBody>
      </p:sp>
      <p:sp>
        <p:nvSpPr>
          <p:cNvPr id="62" name="Google Shape;62;p14"/>
          <p:cNvSpPr/>
          <p:nvPr/>
        </p:nvSpPr>
        <p:spPr>
          <a:xfrm rot="-5527">
            <a:off x="4003504" y="1532162"/>
            <a:ext cx="186600" cy="36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122150" y="695200"/>
            <a:ext cx="5175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lang="ko" sz="820">
                <a:solidFill>
                  <a:schemeClr val="dk1"/>
                </a:solidFill>
              </a:rPr>
              <a:t>USGS 사전확률이 0일 경우       → 원 논문 공식 코드는 불확실도만 보기에 제외</a:t>
            </a:r>
            <a:endParaRPr sz="8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lang="ko" sz="820">
                <a:solidFill>
                  <a:schemeClr val="dk1"/>
                </a:solidFill>
              </a:rPr>
              <a:t>불확실도가 0이거나 999일 경우 (</a:t>
            </a:r>
            <a:r>
              <a:rPr lang="ko" sz="820">
                <a:solidFill>
                  <a:schemeClr val="dk1"/>
                </a:solidFill>
              </a:rPr>
              <a:t>지금은 이것만 사용) </a:t>
            </a:r>
            <a:endParaRPr sz="82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150" y="3144125"/>
            <a:ext cx="3418565" cy="1463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" name="Google Shape;65;p14"/>
          <p:cNvSpPr txBox="1"/>
          <p:nvPr/>
        </p:nvSpPr>
        <p:spPr>
          <a:xfrm>
            <a:off x="65850" y="2623950"/>
            <a:ext cx="3000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20">
                <a:solidFill>
                  <a:schemeClr val="dk1"/>
                </a:solidFill>
              </a:rPr>
              <a:t>2</a:t>
            </a:r>
            <a:r>
              <a:rPr b="1" lang="ko" sz="1520">
                <a:solidFill>
                  <a:schemeClr val="dk1"/>
                </a:solidFill>
              </a:rPr>
              <a:t>. USGS </a:t>
            </a:r>
            <a:r>
              <a:rPr b="1" lang="ko" sz="1520">
                <a:solidFill>
                  <a:schemeClr val="dk1"/>
                </a:solidFill>
              </a:rPr>
              <a:t>불확실도 계산 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 flipH="1" rot="-5400000">
            <a:off x="6376003" y="1511840"/>
            <a:ext cx="465000" cy="3687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1225" y="3209499"/>
            <a:ext cx="5343577" cy="12699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600" y="1233738"/>
            <a:ext cx="6015474" cy="13642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" name="Google Shape;69;p14"/>
          <p:cNvSpPr txBox="1"/>
          <p:nvPr/>
        </p:nvSpPr>
        <p:spPr>
          <a:xfrm>
            <a:off x="5851850" y="2033750"/>
            <a:ext cx="30489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20">
                <a:solidFill>
                  <a:schemeClr val="dk1"/>
                </a:solidFill>
                <a:highlight>
                  <a:srgbClr val="A4C2F4"/>
                </a:highlight>
              </a:rPr>
              <a:t>두 기준의 차이는 모든 실험에서 0.002 이하 </a:t>
            </a:r>
            <a:endParaRPr b="1" sz="1500">
              <a:highlight>
                <a:srgbClr val="A4C2F4"/>
              </a:highlight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3952950" y="4564000"/>
            <a:ext cx="30489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20">
                <a:solidFill>
                  <a:schemeClr val="dk1"/>
                </a:solidFill>
                <a:highlight>
                  <a:srgbClr val="A4C2F4"/>
                </a:highlight>
              </a:rPr>
              <a:t>두 기준의 차이는 -0.015 ~ +0.008</a:t>
            </a:r>
            <a:endParaRPr b="1" sz="1500">
              <a:highlight>
                <a:srgbClr val="A4C2F4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4294967295" type="title"/>
          </p:nvPr>
        </p:nvSpPr>
        <p:spPr>
          <a:xfrm>
            <a:off x="0" y="0"/>
            <a:ext cx="85206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지난 실험과 달라진 점 </a:t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0"/>
          </a:p>
        </p:txBody>
      </p:sp>
      <p:sp>
        <p:nvSpPr>
          <p:cNvPr id="76" name="Google Shape;76;p15"/>
          <p:cNvSpPr txBox="1"/>
          <p:nvPr/>
        </p:nvSpPr>
        <p:spPr>
          <a:xfrm>
            <a:off x="79850" y="375800"/>
            <a:ext cx="3000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20">
                <a:solidFill>
                  <a:schemeClr val="dk1"/>
                </a:solidFill>
              </a:rPr>
              <a:t>3</a:t>
            </a:r>
            <a:r>
              <a:rPr b="1" lang="ko" sz="1520">
                <a:solidFill>
                  <a:schemeClr val="dk1"/>
                </a:solidFill>
              </a:rPr>
              <a:t>. BD 노드 제거 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9850"/>
            <a:ext cx="8839200" cy="191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23948"/>
            <a:ext cx="8839197" cy="181834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2476575" y="4691975"/>
            <a:ext cx="49011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20">
                <a:solidFill>
                  <a:schemeClr val="dk1"/>
                </a:solidFill>
                <a:highlight>
                  <a:srgbClr val="A4C2F4"/>
                </a:highlight>
              </a:rPr>
              <a:t>BD를 제거하면 전체 AUC가 네 실험 모두 오름</a:t>
            </a:r>
            <a:endParaRPr b="1" sz="1900">
              <a:highlight>
                <a:srgbClr val="A4C2F4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79375" y="56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ko" sz="1668"/>
              <a:t>실험 추가 사항 (USGS 불확실도) </a:t>
            </a:r>
            <a:endParaRPr b="1" sz="166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b="1" sz="1668"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75" y="837075"/>
            <a:ext cx="5218274" cy="1808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408463" y="2731925"/>
            <a:ext cx="5175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USGS </a:t>
            </a:r>
            <a:r>
              <a:rPr b="1" lang="ko"/>
              <a:t>불확실도는 2가지의 역할 존재</a:t>
            </a:r>
            <a:r>
              <a:rPr lang="ko"/>
              <a:t>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ko" sz="1200"/>
              <a:t>시정촌 내에 있는 모든 USGS 불확실도 픽셀 값이 0 또는 999면 </a:t>
            </a:r>
            <a:br>
              <a:rPr lang="ko" sz="1200"/>
            </a:br>
            <a:r>
              <a:rPr lang="ko" sz="1200"/>
              <a:t>그 시정촌의 해당 재해는 0으로 끄기 (산사태 5곳, 액상화 11곳)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ko" sz="1200"/>
              <a:t>시정촌마다 정규분포에서 값을 뽑아 사후확률을 만드는데, </a:t>
            </a:r>
            <a:br>
              <a:rPr lang="ko" sz="1200"/>
            </a:br>
            <a:r>
              <a:rPr lang="ko" sz="1200"/>
              <a:t>그 분포가 얼마나 퍼지는지를 기본값 1 대신 USGS 불확실도로 정함 </a:t>
            </a:r>
            <a:br>
              <a:rPr lang="ko" sz="1200"/>
            </a:br>
            <a:r>
              <a:rPr lang="ko" sz="1200"/>
              <a:t>(USGS가 불확실하다고 본 곳은 넓게, 확신하는 곳은 좁게 뽑히게) </a:t>
            </a:r>
            <a:endParaRPr sz="1200"/>
          </a:p>
        </p:txBody>
      </p:sp>
      <p:sp>
        <p:nvSpPr>
          <p:cNvPr id="88" name="Google Shape;88;p16"/>
          <p:cNvSpPr/>
          <p:nvPr/>
        </p:nvSpPr>
        <p:spPr>
          <a:xfrm rot="3094">
            <a:off x="5333771" y="3307480"/>
            <a:ext cx="333300" cy="22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5692863" y="3113225"/>
            <a:ext cx="517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_끄기만: USGS 불확실도 끄기만 이용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_분산만: USGS 불확실도 분산만 이용 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820"/>
              <a:t>실험 </a:t>
            </a:r>
            <a:r>
              <a:rPr b="1" lang="ko" sz="1820"/>
              <a:t>결과 - 한눈에 </a:t>
            </a:r>
            <a:endParaRPr b="1" sz="1820"/>
          </a:p>
        </p:txBody>
      </p:sp>
      <p:grpSp>
        <p:nvGrpSpPr>
          <p:cNvPr id="95" name="Google Shape;95;p17"/>
          <p:cNvGrpSpPr/>
          <p:nvPr/>
        </p:nvGrpSpPr>
        <p:grpSpPr>
          <a:xfrm>
            <a:off x="197480" y="465938"/>
            <a:ext cx="4369970" cy="3763591"/>
            <a:chOff x="274624" y="469725"/>
            <a:chExt cx="4584526" cy="3948375"/>
          </a:xfrm>
        </p:grpSpPr>
        <p:pic>
          <p:nvPicPr>
            <p:cNvPr id="96" name="Google Shape;96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4624" y="469725"/>
              <a:ext cx="4318800" cy="3948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78375" y="1041402"/>
              <a:ext cx="1580775" cy="326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7"/>
          <p:cNvSpPr/>
          <p:nvPr/>
        </p:nvSpPr>
        <p:spPr>
          <a:xfrm rot="3094">
            <a:off x="3742583" y="2047630"/>
            <a:ext cx="333300" cy="22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6863" y="527400"/>
            <a:ext cx="4679650" cy="3959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1983050" y="4541400"/>
            <a:ext cx="591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highlight>
                  <a:srgbClr val="A4C2F4"/>
                </a:highlight>
              </a:rPr>
              <a:t>지형 정보(soft)와 USGS 불확실도의 분산을 함께 쓴 SOFTU_분산만이 0.751로 가장 높지만, </a:t>
            </a:r>
            <a:endParaRPr b="1" sz="1000">
              <a:highlight>
                <a:srgbClr val="A4C2F4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highlight>
                  <a:srgbClr val="A4C2F4"/>
                </a:highlight>
              </a:rPr>
              <a:t>모든 실험이 USGS 기준선(0.854)보다 낮다. </a:t>
            </a:r>
            <a:endParaRPr b="1" sz="1000">
              <a:highlight>
                <a:srgbClr val="A4C2F4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75" y="750425"/>
            <a:ext cx="5396249" cy="11785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실험 결과 </a:t>
            </a:r>
            <a:r>
              <a:rPr b="1" lang="ko" sz="1520"/>
              <a:t>분석1</a:t>
            </a:r>
            <a:r>
              <a:rPr b="1" lang="ko" sz="1520"/>
              <a:t>  </a:t>
            </a:r>
            <a:endParaRPr b="1" sz="1520"/>
          </a:p>
        </p:txBody>
      </p:sp>
      <p:sp>
        <p:nvSpPr>
          <p:cNvPr id="107" name="Google Shape;107;p18"/>
          <p:cNvSpPr txBox="1"/>
          <p:nvPr/>
        </p:nvSpPr>
        <p:spPr>
          <a:xfrm>
            <a:off x="81600" y="396863"/>
            <a:ext cx="517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20">
              <a:solidFill>
                <a:schemeClr val="dk1"/>
              </a:solidFill>
            </a:endParaRPr>
          </a:p>
          <a:p>
            <a:pPr indent="-2743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"/>
              <a:buChar char="●"/>
            </a:pPr>
            <a:r>
              <a:rPr lang="ko" sz="720">
                <a:solidFill>
                  <a:schemeClr val="dk1"/>
                </a:solidFill>
              </a:rPr>
              <a:t>0.512 → 0.777 (비탈이 적은 시정촌의 산사태 확률을 깎는 지형 정보가 크게 통함)</a:t>
            </a:r>
            <a:endParaRPr sz="72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">
              <a:solidFill>
                <a:schemeClr val="dk1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5697875" y="1107238"/>
            <a:ext cx="11901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20">
                <a:solidFill>
                  <a:schemeClr val="dk1"/>
                </a:solidFill>
              </a:rPr>
              <a:t>Soft만 </a:t>
            </a:r>
            <a:endParaRPr sz="720">
              <a:solidFill>
                <a:schemeClr val="dk1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5697875" y="1358875"/>
            <a:ext cx="11901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20">
                <a:solidFill>
                  <a:schemeClr val="dk1"/>
                </a:solidFill>
              </a:rPr>
              <a:t>USGS 불확실도만</a:t>
            </a:r>
            <a:r>
              <a:rPr lang="ko" sz="720">
                <a:solidFill>
                  <a:schemeClr val="dk1"/>
                </a:solidFill>
              </a:rPr>
              <a:t> </a:t>
            </a:r>
            <a:endParaRPr sz="720">
              <a:solidFill>
                <a:schemeClr val="dk1"/>
              </a:solidFill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5696958" y="1610674"/>
            <a:ext cx="15690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20">
                <a:solidFill>
                  <a:schemeClr val="dk1"/>
                </a:solidFill>
              </a:rPr>
              <a:t>Soft + USGS 불확실도</a:t>
            </a:r>
            <a:endParaRPr sz="720">
              <a:solidFill>
                <a:schemeClr val="dk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81600" y="2079913"/>
            <a:ext cx="5175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20">
                <a:solidFill>
                  <a:schemeClr val="dk1"/>
                </a:solidFill>
              </a:rPr>
              <a:t>2. </a:t>
            </a:r>
            <a:r>
              <a:rPr b="1" lang="ko" sz="1020">
                <a:solidFill>
                  <a:schemeClr val="dk1"/>
                </a:solidFill>
              </a:rPr>
              <a:t>U의 효과는 거의 분산에서 옴 </a:t>
            </a:r>
            <a:r>
              <a:rPr b="1" lang="ko" sz="820">
                <a:solidFill>
                  <a:schemeClr val="dk1"/>
                </a:solidFill>
              </a:rPr>
              <a:t> </a:t>
            </a:r>
            <a:endParaRPr b="1" sz="8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lang="ko" sz="820">
                <a:solidFill>
                  <a:schemeClr val="dk1"/>
                </a:solidFill>
              </a:rPr>
              <a:t>전체로는 분산만 써도 U 전체와 거의 동일 (DNU_분산만 </a:t>
            </a:r>
            <a:r>
              <a:rPr b="1" lang="ko" sz="820">
                <a:solidFill>
                  <a:srgbClr val="38761D"/>
                </a:solidFill>
              </a:rPr>
              <a:t>0.681</a:t>
            </a:r>
            <a:r>
              <a:rPr lang="ko" sz="820">
                <a:solidFill>
                  <a:schemeClr val="dk1"/>
                </a:solidFill>
              </a:rPr>
              <a:t> vs DNU </a:t>
            </a:r>
            <a:r>
              <a:rPr b="1" lang="ko" sz="820">
                <a:solidFill>
                  <a:srgbClr val="38761D"/>
                </a:solidFill>
              </a:rPr>
              <a:t>0.675</a:t>
            </a:r>
            <a:r>
              <a:rPr lang="ko" sz="820">
                <a:solidFill>
                  <a:schemeClr val="dk1"/>
                </a:solidFill>
              </a:rPr>
              <a:t>)</a:t>
            </a:r>
            <a:endParaRPr sz="82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20">
                <a:solidFill>
                  <a:schemeClr val="dk1"/>
                </a:solidFill>
              </a:rPr>
              <a:t>    +</a:t>
            </a:r>
            <a:r>
              <a:rPr b="1" lang="ko" sz="820">
                <a:solidFill>
                  <a:schemeClr val="dk1"/>
                </a:solidFill>
              </a:rPr>
              <a:t>끄기는 효과가 작다 </a:t>
            </a:r>
            <a:endParaRPr b="1" sz="8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lang="ko" sz="820">
                <a:solidFill>
                  <a:schemeClr val="dk1"/>
                </a:solidFill>
              </a:rPr>
              <a:t>산사태로 꺼지는 5곳은 정답이 없어 평가 제외, 액상화 11곳은 평가 대상의 7%뿐  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6265425" y="2887125"/>
            <a:ext cx="19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USGS 불확실도만(</a:t>
            </a:r>
            <a:r>
              <a:rPr lang="ko" sz="820">
                <a:solidFill>
                  <a:schemeClr val="dk1"/>
                </a:solidFill>
              </a:rPr>
              <a:t>끄기 역할만)</a:t>
            </a:r>
            <a:r>
              <a:rPr lang="ko" sz="820">
                <a:solidFill>
                  <a:schemeClr val="dk1"/>
                </a:solidFill>
              </a:rPr>
              <a:t>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6265425" y="3196100"/>
            <a:ext cx="19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USGS 불확실도만(</a:t>
            </a:r>
            <a:r>
              <a:rPr lang="ko" sz="820">
                <a:solidFill>
                  <a:schemeClr val="dk1"/>
                </a:solidFill>
              </a:rPr>
              <a:t>분산 </a:t>
            </a:r>
            <a:r>
              <a:rPr lang="ko" sz="820">
                <a:solidFill>
                  <a:schemeClr val="dk1"/>
                </a:solidFill>
              </a:rPr>
              <a:t>역할만) </a:t>
            </a:r>
            <a:endParaRPr sz="820">
              <a:solidFill>
                <a:schemeClr val="dk1"/>
              </a:solidFill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675" y="2748937"/>
            <a:ext cx="5985902" cy="7579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18"/>
          <p:cNvSpPr txBox="1"/>
          <p:nvPr/>
        </p:nvSpPr>
        <p:spPr>
          <a:xfrm>
            <a:off x="56000" y="322150"/>
            <a:ext cx="38586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20">
                <a:solidFill>
                  <a:schemeClr val="dk1"/>
                </a:solidFill>
              </a:rPr>
              <a:t>1. </a:t>
            </a:r>
            <a:r>
              <a:rPr b="1" lang="ko" sz="1020">
                <a:solidFill>
                  <a:schemeClr val="dk1"/>
                </a:solidFill>
              </a:rPr>
              <a:t>Soft는 산사태를 크게 올리고, 액상화는 soft와 U가 비슷함  </a:t>
            </a:r>
            <a:endParaRPr sz="1600"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799" y="3720551"/>
            <a:ext cx="2350725" cy="9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4675" y="0"/>
            <a:ext cx="5175900" cy="629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실험 결과 분석2  </a:t>
            </a:r>
            <a:endParaRPr b="1" sz="1520"/>
          </a:p>
        </p:txBody>
      </p:sp>
      <p:sp>
        <p:nvSpPr>
          <p:cNvPr id="123" name="Google Shape;123;p19"/>
          <p:cNvSpPr txBox="1"/>
          <p:nvPr/>
        </p:nvSpPr>
        <p:spPr>
          <a:xfrm>
            <a:off x="61063" y="1972263"/>
            <a:ext cx="5175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20">
                <a:solidFill>
                  <a:schemeClr val="dk1"/>
                </a:solidFill>
              </a:rPr>
              <a:t>4. 시정촌마다 다른 USGS값 (DNU_분산만)이 가장 높음 </a:t>
            </a:r>
            <a:endParaRPr b="1" sz="10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b="1" lang="ko" sz="820">
                <a:solidFill>
                  <a:schemeClr val="dk1"/>
                </a:solidFill>
              </a:rPr>
              <a:t>4가지 중 DNU_분산만이 전체/산사태/액상화 모두 가장 높음 </a:t>
            </a:r>
            <a:br>
              <a:rPr b="1" lang="ko" sz="820">
                <a:solidFill>
                  <a:schemeClr val="dk1"/>
                </a:solidFill>
              </a:rPr>
            </a:br>
            <a:r>
              <a:rPr lang="ko" sz="820">
                <a:solidFill>
                  <a:schemeClr val="dk1"/>
                </a:solidFill>
              </a:rPr>
              <a:t>모두에게 같은 값을 주는 것보다 시정촌마다 다른 USGS 불확실도를 쓰는 쪽이 낫다 </a:t>
            </a:r>
            <a:endParaRPr sz="8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b="1" lang="ko" sz="820">
                <a:solidFill>
                  <a:schemeClr val="dk1"/>
                </a:solidFill>
              </a:rPr>
              <a:t>분산값이 작을수록 좋은 건 아님</a:t>
            </a:r>
            <a:endParaRPr b="1" sz="82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모두 0.001은 ①과 거의 같고(0.614→0.616), 모두 0.01은 오름(0.657)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5912375" y="1198900"/>
            <a:ext cx="2228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Soft + USGS </a:t>
            </a:r>
            <a:r>
              <a:rPr lang="ko" sz="820">
                <a:solidFill>
                  <a:schemeClr val="dk1"/>
                </a:solidFill>
              </a:rPr>
              <a:t>불확실도 (끄기만)</a:t>
            </a:r>
            <a:r>
              <a:rPr lang="ko" sz="820">
                <a:solidFill>
                  <a:schemeClr val="dk1"/>
                </a:solidFill>
              </a:rPr>
              <a:t>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5912375" y="1592575"/>
            <a:ext cx="1752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Soft + </a:t>
            </a:r>
            <a:r>
              <a:rPr lang="ko" sz="820">
                <a:solidFill>
                  <a:schemeClr val="dk1"/>
                </a:solidFill>
              </a:rPr>
              <a:t>USGS 불확실도 (</a:t>
            </a:r>
            <a:r>
              <a:rPr lang="ko" sz="820">
                <a:solidFill>
                  <a:schemeClr val="dk1"/>
                </a:solidFill>
              </a:rPr>
              <a:t>분산만) </a:t>
            </a:r>
            <a:r>
              <a:rPr lang="ko" sz="820">
                <a:solidFill>
                  <a:schemeClr val="dk1"/>
                </a:solidFill>
              </a:rPr>
              <a:t>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3781075" y="3347050"/>
            <a:ext cx="2228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DN + 분산만 (모두 0.001)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3781075" y="3657850"/>
            <a:ext cx="1752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DN + 분산만 (모두 0.01)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66313" y="4130900"/>
            <a:ext cx="5175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20">
                <a:solidFill>
                  <a:schemeClr val="dk1"/>
                </a:solidFill>
              </a:rPr>
              <a:t>*DN</a:t>
            </a:r>
            <a:endParaRPr sz="820">
              <a:solidFill>
                <a:schemeClr val="dk1"/>
              </a:solidFill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00" y="1172872"/>
            <a:ext cx="5875049" cy="7538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" name="Google Shape;130;p19"/>
          <p:cNvSpPr txBox="1"/>
          <p:nvPr/>
        </p:nvSpPr>
        <p:spPr>
          <a:xfrm>
            <a:off x="109600" y="375663"/>
            <a:ext cx="5175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20">
                <a:solidFill>
                  <a:schemeClr val="dk1"/>
                </a:solidFill>
              </a:rPr>
              <a:t>3. Soft 위에서의 USGS 불확실도의 효과는 2와 같은 결론</a:t>
            </a:r>
            <a:endParaRPr b="1" sz="10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b="1" lang="ko" sz="820">
                <a:solidFill>
                  <a:schemeClr val="dk1"/>
                </a:solidFill>
              </a:rPr>
              <a:t>soft를 켜도 효과는 분산에서 오고, 끄기는 작다</a:t>
            </a:r>
            <a:endParaRPr b="1" sz="8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b="1" lang="ko" sz="820">
                <a:solidFill>
                  <a:schemeClr val="dk1"/>
                </a:solidFill>
              </a:rPr>
              <a:t>단, soft가 있으면 분산이 더 올리는 폭이 줄어듦 </a:t>
            </a:r>
            <a:endParaRPr b="1" sz="820">
              <a:solidFill>
                <a:schemeClr val="dk1"/>
              </a:solidFill>
            </a:endParaRPr>
          </a:p>
          <a:p>
            <a:pPr indent="-28067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○"/>
            </a:pPr>
            <a:r>
              <a:rPr lang="ko" sz="820">
                <a:solidFill>
                  <a:schemeClr val="dk1"/>
                </a:solidFill>
              </a:rPr>
              <a:t>soft가 없을 땐 DN </a:t>
            </a:r>
            <a:r>
              <a:rPr b="1" lang="ko" sz="820">
                <a:solidFill>
                  <a:srgbClr val="38761D"/>
                </a:solidFill>
              </a:rPr>
              <a:t>0.614</a:t>
            </a:r>
            <a:r>
              <a:rPr lang="ko" sz="820">
                <a:solidFill>
                  <a:schemeClr val="dk1"/>
                </a:solidFill>
              </a:rPr>
              <a:t> → DNU_분산만 </a:t>
            </a:r>
            <a:r>
              <a:rPr b="1" lang="ko" sz="820">
                <a:solidFill>
                  <a:srgbClr val="38761D"/>
                </a:solidFill>
              </a:rPr>
              <a:t>0.681</a:t>
            </a:r>
            <a:r>
              <a:rPr lang="ko" sz="820">
                <a:solidFill>
                  <a:schemeClr val="dk1"/>
                </a:solidFill>
              </a:rPr>
              <a:t> (+0.067)</a:t>
            </a:r>
            <a:endParaRPr sz="820">
              <a:solidFill>
                <a:schemeClr val="dk1"/>
              </a:solidFill>
            </a:endParaRPr>
          </a:p>
          <a:p>
            <a:pPr indent="-28067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○"/>
            </a:pPr>
            <a:r>
              <a:rPr lang="ko" sz="820">
                <a:solidFill>
                  <a:schemeClr val="dk1"/>
                </a:solidFill>
              </a:rPr>
              <a:t>soft가 있을 땐 SOFT </a:t>
            </a:r>
            <a:r>
              <a:rPr b="1" lang="ko" sz="820">
                <a:solidFill>
                  <a:srgbClr val="38761D"/>
                </a:solidFill>
              </a:rPr>
              <a:t>0.710</a:t>
            </a:r>
            <a:r>
              <a:rPr lang="ko" sz="820">
                <a:solidFill>
                  <a:schemeClr val="dk1"/>
                </a:solidFill>
              </a:rPr>
              <a:t> → SOFTU_분산만 </a:t>
            </a:r>
            <a:r>
              <a:rPr b="1" lang="ko" sz="820">
                <a:solidFill>
                  <a:srgbClr val="38761D"/>
                </a:solidFill>
              </a:rPr>
              <a:t>0.751</a:t>
            </a:r>
            <a:r>
              <a:rPr lang="ko" sz="820">
                <a:solidFill>
                  <a:schemeClr val="dk1"/>
                </a:solidFill>
              </a:rPr>
              <a:t>(+0.041)  </a:t>
            </a:r>
            <a:endParaRPr sz="820">
              <a:solidFill>
                <a:schemeClr val="dk1"/>
              </a:solidFill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325" y="2746101"/>
            <a:ext cx="3647132" cy="19513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6975" y="3019975"/>
            <a:ext cx="3740025" cy="115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3450" y="19051"/>
            <a:ext cx="5270274" cy="6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0" y="0"/>
            <a:ext cx="85206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20"/>
              <a:t>추가실험 - 픽셀 단위 학습 </a:t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</p:txBody>
      </p:sp>
      <p:sp>
        <p:nvSpPr>
          <p:cNvPr id="139" name="Google Shape;139;p20"/>
          <p:cNvSpPr txBox="1"/>
          <p:nvPr/>
        </p:nvSpPr>
        <p:spPr>
          <a:xfrm>
            <a:off x="73184" y="326950"/>
            <a:ext cx="89526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1.설정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</a:t>
            </a:r>
            <a:r>
              <a:rPr lang="ko" sz="1200">
                <a:highlight>
                  <a:srgbClr val="FFF2CC"/>
                </a:highlight>
              </a:rPr>
              <a:t>BD없음 </a:t>
            </a:r>
            <a:endParaRPr sz="12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시정촌 사후확률은 시정촌 안 픽셀들의 최댓값으로 AUC 구함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</a:t>
            </a:r>
            <a:r>
              <a:rPr lang="ko" sz="1200">
                <a:highlight>
                  <a:srgbClr val="FFF2CC"/>
                </a:highlight>
              </a:rPr>
              <a:t>USGS 불확실도가 0 또는 999인 경우에만 끔(USGS 사전확률=0은 미반영) </a:t>
            </a:r>
            <a:endParaRPr sz="12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soft(SOFTU 계열) · 끄기 지도(LOCALU): 10도 이상 비탈, 5도 미만 평지, 5~10도는 둘 다 켬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물 제외   </a:t>
            </a:r>
            <a:endParaRPr sz="1200"/>
          </a:p>
        </p:txBody>
      </p:sp>
      <p:sp>
        <p:nvSpPr>
          <p:cNvPr id="140" name="Google Shape;140;p20"/>
          <p:cNvSpPr txBox="1"/>
          <p:nvPr/>
        </p:nvSpPr>
        <p:spPr>
          <a:xfrm>
            <a:off x="-3201044" y="1210250"/>
            <a:ext cx="307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1.1 DPM 칸 설정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- 250m 칸 하나에 40m 화소 약 41개 들어감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칸의 DPM = 화소 평균 - 프레임 중앙값 </a:t>
            </a:r>
            <a:endParaRPr sz="1200"/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42704" y="1946646"/>
            <a:ext cx="3017250" cy="17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000" y="2894670"/>
            <a:ext cx="2094325" cy="17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73173" y="1755575"/>
            <a:ext cx="4035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1.1 </a:t>
            </a:r>
            <a:r>
              <a:rPr b="1" lang="ko"/>
              <a:t>물 제외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- 100m </a:t>
            </a:r>
            <a:r>
              <a:rPr lang="ko" sz="1200"/>
              <a:t>토지이용 칸 (파랑=하천/호소/해수역)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- 100m칸의 중심점이 250m칸 안에 든 것만 셈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안에 든 중심점이 50% 넘으면 물 칸으로 칸 단위에서 뺌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*250m칸 하나에 중심점은 4~9개로, 물 칸은 전체의 약 2.5%</a:t>
            </a:r>
            <a:r>
              <a:rPr lang="ko" sz="1200"/>
              <a:t> </a:t>
            </a:r>
            <a:endParaRPr sz="1200"/>
          </a:p>
        </p:txBody>
      </p:sp>
      <p:sp>
        <p:nvSpPr>
          <p:cNvPr id="144" name="Google Shape;144;p20"/>
          <p:cNvSpPr txBox="1"/>
          <p:nvPr/>
        </p:nvSpPr>
        <p:spPr>
          <a:xfrm>
            <a:off x="3896948" y="1831188"/>
            <a:ext cx="4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1.2 물 제외하는 이유  </a:t>
            </a:r>
            <a:endParaRPr sz="1200"/>
          </a:p>
        </p:txBody>
      </p:sp>
      <p:pic>
        <p:nvPicPr>
          <p:cNvPr id="145" name="Google Shape;145;p20"/>
          <p:cNvPicPr preferRelativeResize="0"/>
          <p:nvPr/>
        </p:nvPicPr>
        <p:blipFill rotWithShape="1">
          <a:blip r:embed="rId5">
            <a:alphaModFix/>
          </a:blip>
          <a:srcRect b="0" l="0" r="-3520" t="0"/>
          <a:stretch/>
        </p:blipFill>
        <p:spPr>
          <a:xfrm>
            <a:off x="3896950" y="2231400"/>
            <a:ext cx="5247048" cy="25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/>
        </p:nvSpPr>
        <p:spPr>
          <a:xfrm>
            <a:off x="95709" y="144450"/>
            <a:ext cx="895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1.3 USGS </a:t>
            </a:r>
            <a:r>
              <a:rPr b="1" lang="ko"/>
              <a:t>사전확률</a:t>
            </a:r>
            <a:r>
              <a:rPr b="1" lang="ko"/>
              <a:t>/</a:t>
            </a:r>
            <a:r>
              <a:rPr b="1" lang="ko"/>
              <a:t>불확실도</a:t>
            </a:r>
            <a:r>
              <a:rPr b="1" lang="ko"/>
              <a:t> </a:t>
            </a:r>
            <a:r>
              <a:rPr b="1" lang="ko"/>
              <a:t>계산</a:t>
            </a:r>
            <a:r>
              <a:rPr b="1" lang="ko"/>
              <a:t>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- 250m 칸</a:t>
            </a:r>
            <a:r>
              <a:rPr lang="ko" sz="1200"/>
              <a:t>이 USGS 칸 4개에 걸침 </a:t>
            </a:r>
            <a:endParaRPr sz="1200"/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00" y="666725"/>
            <a:ext cx="3829575" cy="171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/>
        </p:nvSpPr>
        <p:spPr>
          <a:xfrm>
            <a:off x="152409" y="2455125"/>
            <a:ext cx="895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1.4 Soft</a:t>
            </a:r>
            <a:r>
              <a:rPr b="1" lang="ko"/>
              <a:t>의 5~10° 칸 </a:t>
            </a:r>
            <a:br>
              <a:rPr b="1" lang="ko"/>
            </a:br>
            <a:r>
              <a:rPr lang="ko" sz="1200"/>
              <a:t>:</a:t>
            </a:r>
            <a:r>
              <a:rPr lang="ko" sz="1200"/>
              <a:t> </a:t>
            </a:r>
            <a:r>
              <a:rPr lang="ko" sz="1200"/>
              <a:t>끄기는 되돌릴 수 없어 확실한 곳만 꺼야하므로, 5~10</a:t>
            </a:r>
            <a:r>
              <a:rPr b="1" lang="ko">
                <a:solidFill>
                  <a:schemeClr val="dk1"/>
                </a:solidFill>
              </a:rPr>
              <a:t>°</a:t>
            </a:r>
            <a:r>
              <a:rPr lang="ko" sz="1200">
                <a:solidFill>
                  <a:schemeClr val="dk1"/>
                </a:solidFill>
              </a:rPr>
              <a:t>는 산사태/액상화 둘 다 날 수 있다고 보고 킴 </a:t>
            </a:r>
            <a:endParaRPr sz="1000"/>
          </a:p>
        </p:txBody>
      </p:sp>
      <p:pic>
        <p:nvPicPr>
          <p:cNvPr id="157" name="Picture 156" descr="soft_5to10_fix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200" y="3116650"/>
            <a:ext cx="6440149" cy="186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실험 </a:t>
            </a:r>
            <a:r>
              <a:rPr b="1" lang="ko" sz="1520"/>
              <a:t>종류 및 결과 </a:t>
            </a:r>
            <a:r>
              <a:rPr b="1" lang="ko" sz="1520"/>
              <a:t>  </a:t>
            </a:r>
            <a:endParaRPr b="1" sz="1520"/>
          </a:p>
        </p:txBody>
      </p:sp>
      <p:sp>
        <p:nvSpPr>
          <p:cNvPr id="162" name="Google Shape;162;p22"/>
          <p:cNvSpPr txBox="1"/>
          <p:nvPr/>
        </p:nvSpPr>
        <p:spPr>
          <a:xfrm>
            <a:off x="4658575" y="3336375"/>
            <a:ext cx="399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highlight>
                  <a:srgbClr val="A4C2F4"/>
                </a:highlight>
              </a:rPr>
              <a:t>전체 0.808(LOCALU)로, 시정촌 단위 최고(SOFTU_분산만 0.751)보다 높지만 USGS 기준선(0.854)과 pilotA(0.855)보다는 낮음</a:t>
            </a:r>
            <a:endParaRPr b="1" sz="1000">
              <a:highlight>
                <a:srgbClr val="A4C2F4"/>
              </a:highlight>
            </a:endParaRPr>
          </a:p>
        </p:txBody>
      </p:sp>
      <p:sp>
        <p:nvSpPr>
          <p:cNvPr id="163" name="Google Shape;163;p22"/>
          <p:cNvSpPr/>
          <p:nvPr/>
        </p:nvSpPr>
        <p:spPr>
          <a:xfrm rot="5404107">
            <a:off x="1766475" y="2093575"/>
            <a:ext cx="251100" cy="22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Picture 165" descr="sett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370250"/>
            <a:ext cx="6199628" cy="1335738"/>
          </a:xfrm>
          <a:prstGeom prst="rect">
            <a:avLst/>
          </a:prstGeom>
        </p:spPr>
      </p:pic>
      <p:pic>
        <p:nvPicPr>
          <p:cNvPr id="167" name="Picture 166" descr="pixel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2382300"/>
            <a:ext cx="4419600" cy="24356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추가 실험1 : 시정촌의 사후확률을 최댓값 대신 평균값으로 채점(seed0~4 평균) </a:t>
            </a:r>
            <a:endParaRPr b="1" sz="1520"/>
          </a:p>
        </p:txBody>
      </p:sp>
      <p:sp>
        <p:nvSpPr>
          <p:cNvPr id="171" name="Google Shape;171;p23"/>
          <p:cNvSpPr txBox="1"/>
          <p:nvPr/>
        </p:nvSpPr>
        <p:spPr>
          <a:xfrm>
            <a:off x="61075" y="418075"/>
            <a:ext cx="817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시정촌 값을 칸 사후확률의 최댓값(</a:t>
            </a:r>
            <a:r>
              <a:rPr lang="ko" sz="1200"/>
              <a:t>지</a:t>
            </a:r>
            <a:r>
              <a:rPr lang="ko" sz="1200"/>
              <a:t>금 방식) 대신 평균으로 모아 다시 채</a:t>
            </a:r>
            <a:r>
              <a:rPr lang="ko" sz="1200"/>
              <a:t>점 (새로 학습x) </a:t>
            </a:r>
            <a:endParaRPr sz="1200"/>
          </a:p>
        </p:txBody>
      </p:sp>
      <p:sp>
        <p:nvSpPr>
          <p:cNvPr id="172" name="Google Shape;172;p23"/>
          <p:cNvSpPr txBox="1"/>
          <p:nvPr/>
        </p:nvSpPr>
        <p:spPr>
          <a:xfrm>
            <a:off x="171600" y="3698775"/>
            <a:ext cx="817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" sz="1200"/>
              <a:t>전체는 다섯 실험 모두 최댓값이 더 높음 (평균으로 바꾸면 -0.029 ~ -0.085)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" sz="1200"/>
              <a:t>산사태는 DN 빼고 평균이 조금 더 높음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" sz="1200"/>
              <a:t>액상화는 떨어짐 (-0.040 ~ -0.094). </a:t>
            </a:r>
            <a:br>
              <a:rPr lang="ko" sz="1200"/>
            </a:br>
            <a:r>
              <a:rPr lang="ko" sz="1200"/>
              <a:t>액상화는 강가•매립지처럼 시정촌 안 좁은 곳에서 나서, 평균을 내면 넓은 나머지 땅에 묻힐 수 있음 </a:t>
            </a:r>
            <a:endParaRPr sz="1200"/>
          </a:p>
        </p:txBody>
      </p:sp>
      <p:pic>
        <p:nvPicPr>
          <p:cNvPr id="174" name="Picture 173" descr="max_vs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939775"/>
            <a:ext cx="7802797" cy="25678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추가 실험2 : 시정촌의 사후확률을 </a:t>
            </a:r>
            <a:r>
              <a:rPr b="1" lang="ko" sz="1520"/>
              <a:t>산사태는 평균, 액상화는 최대로 채점(seed0~4 평균) </a:t>
            </a:r>
            <a:endParaRPr b="1" sz="1520"/>
          </a:p>
        </p:txBody>
      </p:sp>
      <p:sp>
        <p:nvSpPr>
          <p:cNvPr id="179" name="Google Shape;179;p24"/>
          <p:cNvSpPr txBox="1"/>
          <p:nvPr/>
        </p:nvSpPr>
        <p:spPr>
          <a:xfrm>
            <a:off x="257275" y="2571750"/>
            <a:ext cx="817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" sz="1200"/>
              <a:t>DN을 빼고 전체가 +0.001~+0.009 오름. 가장 높은 것은 LOCALU 0.811(산사태는 0.805, 액상화 0.813) </a:t>
            </a:r>
            <a:r>
              <a:rPr b="1" lang="ko" sz="1200">
                <a:solidFill>
                  <a:srgbClr val="38761D"/>
                </a:solidFill>
              </a:rPr>
              <a:t/>
            </a:r>
            <a:r>
              <a:rPr lang="ko" sz="1200"/>
              <a:t/>
            </a:r>
            <a:br>
              <a:rPr lang="ko" sz="1200"/>
            </a:br>
            <a:r>
              <a:rPr lang="ko" sz="1200"/>
              <a:t/>
            </a:r>
            <a:r>
              <a:rPr b="1" lang="ko" sz="1200"/>
              <a:t/>
            </a:r>
            <a:r>
              <a:rPr lang="ko" sz="1200"/>
              <a:t/>
            </a:r>
            <a:r>
              <a:rPr lang="ko" sz="1200"/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" sz="1200"/>
              <a:t>여전히 USGS 기준선 (0.854), pilotA(0.855)보다 낮음 </a:t>
            </a:r>
            <a:endParaRPr sz="1200"/>
          </a:p>
        </p:txBody>
      </p:sp>
      <p:pic>
        <p:nvPicPr>
          <p:cNvPr id="180" name="Google Shape;180;p24"/>
          <p:cNvPicPr preferRelativeResize="0"/>
          <p:nvPr/>
        </p:nvPicPr>
        <p:blipFill rotWithShape="1">
          <a:blip r:embed="rId3">
            <a:alphaModFix/>
          </a:blip>
          <a:srcRect b="67886" l="0" r="0" t="0"/>
          <a:stretch/>
        </p:blipFill>
        <p:spPr>
          <a:xfrm>
            <a:off x="788325" y="3336399"/>
            <a:ext cx="4976599" cy="6313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2" name="Picture 181" descr="max_vs_m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00" y="383554"/>
            <a:ext cx="6243563" cy="2054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</p:spPr>
        <p:txBody>
          <a:bodyPr/>
          <a:lstStyle/>
          <a:p>
            <a:r>
              <a:rPr b="1" sz="1520"/>
              <a:t>시정촌 단위 대 픽셀 단위 (seed 0~4 평균)</a:t>
            </a:r>
          </a:p>
        </p:txBody>
      </p:sp>
      <p:pic>
        <p:nvPicPr>
          <p:cNvPr id="3" name="Picture 2" descr="muni_vs_pixel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650000"/>
            <a:ext cx="5900000" cy="2491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50000" y="700000"/>
            <a:ext cx="285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같은 실험끼리 비교하면 픽셀 단위가 모두 높음</a:t>
            </a:r>
          </a:p>
          <a:p>
            <a:pPr>
              <a:spcBef>
                <a:spcPts val="400"/>
              </a:spcBef>
            </a:pPr>
            <a:r>
              <a:rPr sz="1000" b="0"/>
              <a:t>DN +0.090, SOFTU +0.047, SOFTU_끄기만 +0.074, SOFTU_분산만 +0.007</a:t>
            </a:r>
          </a:p>
          <a:p>
            <a:pPr>
              <a:spcBef>
                <a:spcPts val="1200"/>
              </a:spcBef>
            </a:pPr>
            <a:r>
              <a:rPr sz="1100" b="1"/>
              <a:t>오른 폭은 주로 액상화</a:t>
            </a:r>
          </a:p>
          <a:p>
            <a:pPr>
              <a:spcBef>
                <a:spcPts val="400"/>
              </a:spcBef>
            </a:pPr>
            <a:r>
              <a:rPr sz="1000" b="0"/>
              <a:t>노토 액상화 (64곳): SOFTU 0.68에서 0.89로, SOFTU_끄기만 0.70에서 0.91로</a:t>
            </a:r>
          </a:p>
          <a:p>
            <a:pPr>
              <a:spcBef>
                <a:spcPts val="200"/>
              </a:spcBef>
            </a:pPr>
            <a:r>
              <a:rPr sz="1000" b="0"/>
              <a:t>구마모토 액상화 (40곳): 0.78~0.82에서 0.88~0.92로</a:t>
            </a:r>
          </a:p>
          <a:p>
            <a:pPr>
              <a:spcBef>
                <a:spcPts val="200"/>
              </a:spcBef>
            </a:pPr>
            <a:r>
              <a:rPr sz="1000" b="0"/>
              <a:t>훗카이도 · 후쿠시마 액상화는 오히려 시정촌이 높음</a:t>
            </a:r>
          </a:p>
          <a:p>
            <a:pPr>
              <a:spcBef>
                <a:spcPts val="1200"/>
              </a:spcBef>
            </a:pPr>
            <a:r>
              <a:rPr sz="900" b="0">
                <a:solidFill>
                  <a:srgbClr val="5B6577"/>
                </a:solidFill>
              </a:rPr>
              <a:t>seed 번호는 두 실험 모두 0~4로 같지만 줄 수가 달라 뽑히는 난수는 다름. 그래서 seed끼리 짝짓지 않고 5개 평균끼리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43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highlight>
                  <a:srgbClr val="A4C2F4"/>
                </a:highlight>
              </a:rPr>
              <a:t>픽셀 단위로 학습하면 같은 실험이라도 시정촌 단위보다 전체 AUC가 0.007~0.090 높음 (주로 액상화)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</p:spPr>
        <p:txBody>
          <a:bodyPr/>
          <a:lstStyle/>
          <a:p>
            <a:r>
              <a:rPr b="1" sz="1520"/>
              <a:t>seed 안정성: 시정촌 단위 대 픽셀 단위 (seed 0~4)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54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① 전체 AUC가 seed마다 얼마나 흔들리나</a:t>
            </a:r>
          </a:p>
        </p:txBody>
      </p:sp>
      <p:pic>
        <p:nvPicPr>
          <p:cNvPr id="4" name="Picture 3" descr="seed_s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830000"/>
            <a:ext cx="5250000" cy="246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50000" y="540000"/>
            <a:ext cx="34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② 시정촌 확률 순서가 seed끼리 얼마나 같나</a:t>
            </a:r>
          </a:p>
        </p:txBody>
      </p:sp>
      <p:pic>
        <p:nvPicPr>
          <p:cNvPr id="6" name="Picture 5" descr="r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000" y="830000"/>
            <a:ext cx="3450000" cy="1487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50000" y="2560000"/>
            <a:ext cx="34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/>
              <a:t>확률 값 자체는 둘 다 seed마다 크게 흔들림</a:t>
            </a:r>
          </a:p>
          <a:p>
            <a:pPr>
              <a:spcBef>
                <a:spcPts val="300"/>
              </a:spcBef>
            </a:pPr>
            <a:r>
              <a:rPr sz="950" b="0"/>
              <a:t>산사태 순서는 픽셀이 더 일정 (DN 0.08 대 0.59, SOFTU_끄기만 0.37 대 0.79)</a:t>
            </a:r>
          </a:p>
          <a:p>
            <a:pPr>
              <a:spcBef>
                <a:spcPts val="300"/>
              </a:spcBef>
            </a:pPr>
            <a:r>
              <a:rPr sz="950" b="0"/>
              <a:t>액상화 순서는 비슷 (0.69~0.89)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00" y="3700000"/>
            <a:ext cx="5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/>
              <a:t>SOFTU · LOCALU는 픽셀에서 AUC 폭이 작음 (0.008 · 0.032)</a:t>
            </a:r>
          </a:p>
          <a:p>
            <a:pPr>
              <a:spcBef>
                <a:spcPts val="300"/>
              </a:spcBef>
            </a:pPr>
            <a:r>
              <a:rPr sz="950" b="0"/>
              <a:t>SOFTU_분산만은 픽셀에서 폭이 큼 (0.181): seed 0에서 노토 액상화가 0.35로 무너짐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4520000"/>
            <a:ext cx="77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highlight>
                  <a:srgbClr val="A4C2F4"/>
                </a:highlight>
              </a:rPr>
              <a:t>픽셀 단위는 산사태 순서가 더 일정하고, 끄기와 분산을 같이 쓰면(SOFTU · LOCALU) AUC도 seed에 거의 안 흔들림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</p:spPr>
        <p:txBody>
          <a:bodyPr/>
          <a:lstStyle/>
          <a:p>
            <a:r>
              <a:rPr b="1" sz="1520"/>
              <a:t>정리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2000" y="650000"/>
            <a:ext cx="2800000" cy="2900000"/>
          </a:xfrm>
          <a:prstGeom prst="roundRect">
            <a:avLst>
              <a:gd name="adj" fmla="val 6000"/>
            </a:avLst>
          </a:prstGeom>
          <a:solidFill>
            <a:srgbClr val="F5F6F9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000" y="75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D2430"/>
                </a:solidFill>
              </a:rPr>
              <a:t>시정촌 단위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1070000"/>
            <a:ext cx="256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4D7A"/>
                </a:solidFill>
              </a:rPr>
              <a:t>0.751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173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7"/>
                </a:solidFill>
              </a:rPr>
              <a:t>SOFTU_분산만 (최고)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2100000"/>
            <a:ext cx="256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· BD를 빼면 네 실험 모두 오름</a:t>
            </a:r>
          </a:p>
          <a:p>
            <a:pPr>
              <a:spcBef>
                <a:spcPts val="400"/>
              </a:spcBef>
            </a:pPr>
            <a:r>
              <a:rPr sz="1000" b="0"/>
              <a:t>· USGS 불확실도의 효과는 대부분 분산에서 옴, 끄기는 작음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72000" y="650000"/>
            <a:ext cx="2800000" cy="2900000"/>
          </a:xfrm>
          <a:prstGeom prst="roundRect">
            <a:avLst>
              <a:gd name="adj" fmla="val 6000"/>
            </a:avLst>
          </a:prstGeom>
          <a:solidFill>
            <a:srgbClr val="F5F6F9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2000" y="75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D2430"/>
                </a:solidFill>
              </a:rPr>
              <a:t>픽셀 단위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2000" y="1070000"/>
            <a:ext cx="256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4D7A"/>
                </a:solidFill>
              </a:rPr>
              <a:t>0.808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2000" y="173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7"/>
                </a:solidFill>
              </a:rPr>
              <a:t>LOCALU (최고)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2000" y="2100000"/>
            <a:ext cx="256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· 같은 실험끼리 모두 시정촌보다 높음 (+0.007 ~ +0.090)</a:t>
            </a:r>
          </a:p>
          <a:p>
            <a:pPr>
              <a:spcBef>
                <a:spcPts val="400"/>
              </a:spcBef>
            </a:pPr>
            <a:r>
              <a:rPr sz="1000" b="0"/>
              <a:t>· 오른 폭은 주로 액상화 (노토 · 구마모토)</a:t>
            </a:r>
          </a:p>
          <a:p>
            <a:pPr>
              <a:spcBef>
                <a:spcPts val="400"/>
              </a:spcBef>
            </a:pPr>
            <a:r>
              <a:rPr sz="1000" b="0"/>
              <a:t>· SOFTU · LOCALU는 seed에 거의 안 흔들림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2000" y="650000"/>
            <a:ext cx="2800000" cy="2900000"/>
          </a:xfrm>
          <a:prstGeom prst="roundRect">
            <a:avLst>
              <a:gd name="adj" fmla="val 6000"/>
            </a:avLst>
          </a:prstGeom>
          <a:solidFill>
            <a:srgbClr val="F5F6F9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2000" y="75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D2430"/>
                </a:solidFill>
              </a:rPr>
              <a:t>USGS 기준선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000" y="1070000"/>
            <a:ext cx="256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3F8F5A"/>
                </a:solidFill>
              </a:rPr>
              <a:t>0.854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000" y="173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7"/>
                </a:solidFill>
              </a:rPr>
              <a:t>pilotA 0.855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2000" y="2100000"/>
            <a:ext cx="256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· 아직 두 방식 모두 못 미침</a:t>
            </a:r>
          </a:p>
          <a:p>
            <a:pPr>
              <a:spcBef>
                <a:spcPts val="400"/>
              </a:spcBef>
            </a:pPr>
            <a:r>
              <a:rPr sz="1000" b="0"/>
              <a:t>· 남은 차이는 주로 액상화 (LOCALU 0.813 대 USGS 0.895)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00" y="3700000"/>
            <a:ext cx="834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highlight>
                  <a:srgbClr val="A4C2F4"/>
                </a:highlight>
              </a:rPr>
              <a:t>픽셀 단위로 학습하면 시정촌 단위보다 좋아지지만 (0.751에서 0.808로), USGS 기준선(0.854)에는 아직 못 미치며 남은 차이는 액상화에서 나옴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00" y="4250000"/>
            <a:ext cx="83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다음 할 일: </a:t>
            </a:r>
            <a:r>
              <a:rPr sz="1100" b="0"/>
              <a:t>(교수님과 논의 후 채우기)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