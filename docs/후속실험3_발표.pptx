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자기 prior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3번 자연혼재</c:v>
                  </c:pt>
                  <c:pt idx="1">
                    <c:v>5 6번 자연혼재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0.8883</c:v>
                </c:pt>
                <c:pt idx="1">
                  <c:v>0.8883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2C7A5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3번 자연혼재</c:v>
                  </c:pt>
                  <c:pt idx="1">
                    <c:v>5 6번 자연혼재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0.8474</c:v>
                </c:pt>
                <c:pt idx="1">
                  <c:v>0.8481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7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자기 prior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c=0.5</c:v>
                  </c:pt>
                  <c:pt idx="10">
                    <c:v>F c=2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0.7969</c:v>
                </c:pt>
                <c:pt idx="1">
                  <c:v>0.7969</c:v>
                </c:pt>
                <c:pt idx="2">
                  <c:v>0.7969</c:v>
                </c:pt>
                <c:pt idx="3">
                  <c:v>0.8883</c:v>
                </c:pt>
                <c:pt idx="4">
                  <c:v>0.8883</c:v>
                </c:pt>
                <c:pt idx="5">
                  <c:v>0.84</c:v>
                </c:pt>
                <c:pt idx="6">
                  <c:v>0.84</c:v>
                </c:pt>
                <c:pt idx="7">
                  <c:v>0.8163</c:v>
                </c:pt>
                <c:pt idx="8">
                  <c:v>0.7969</c:v>
                </c:pt>
                <c:pt idx="9">
                  <c:v>0.8163</c:v>
                </c:pt>
                <c:pt idx="10">
                  <c:v>0.8679</c:v>
                </c:pt>
                <c:pt idx="11">
                  <c:v>0.84</c:v>
                </c:pt>
                <c:pt idx="12">
                  <c:v>0.84</c:v>
                </c:pt>
                <c:pt idx="13">
                  <c:v>0.84</c:v>
                </c:pt>
                <c:pt idx="14">
                  <c:v>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c=0.5</c:v>
                  </c:pt>
                  <c:pt idx="10">
                    <c:v>F c=2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0.7348</c:v>
                </c:pt>
                <c:pt idx="1">
                  <c:v>0.7635</c:v>
                </c:pt>
                <c:pt idx="2">
                  <c:v>0.7506</c:v>
                </c:pt>
                <c:pt idx="3">
                  <c:v>0.8474</c:v>
                </c:pt>
                <c:pt idx="4">
                  <c:v>0.8481</c:v>
                </c:pt>
                <c:pt idx="5">
                  <c:v>0.855</c:v>
                </c:pt>
                <c:pt idx="6">
                  <c:v>0.8204</c:v>
                </c:pt>
                <c:pt idx="7">
                  <c:v>0.8031</c:v>
                </c:pt>
                <c:pt idx="8">
                  <c:v>0.771</c:v>
                </c:pt>
                <c:pt idx="9">
                  <c:v>0.7915</c:v>
                </c:pt>
                <c:pt idx="10">
                  <c:v>0.8658</c:v>
                </c:pt>
                <c:pt idx="11">
                  <c:v>0.855</c:v>
                </c:pt>
                <c:pt idx="12">
                  <c:v>0.8507</c:v>
                </c:pt>
                <c:pt idx="13">
                  <c:v>0.855</c:v>
                </c:pt>
                <c:pt idx="14">
                  <c:v>0.8235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자기 prior</c:v>
                </c:pt>
              </c:strCache>
            </c:strRef>
          </c:tx>
          <c:spPr>
            <a:solidFill>
              <a:srgbClr val="A8B4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c=0.5</c:v>
                  </c:pt>
                  <c:pt idx="10">
                    <c:v>F c=2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0.7154</c:v>
                </c:pt>
                <c:pt idx="1">
                  <c:v>0.7154</c:v>
                </c:pt>
                <c:pt idx="2">
                  <c:v>0.8372</c:v>
                </c:pt>
                <c:pt idx="3">
                  <c:v>0.7154</c:v>
                </c:pt>
                <c:pt idx="4">
                  <c:v>0.8372</c:v>
                </c:pt>
                <c:pt idx="5">
                  <c:v>0.7698</c:v>
                </c:pt>
                <c:pt idx="6">
                  <c:v>0.7698</c:v>
                </c:pt>
                <c:pt idx="7">
                  <c:v>0.7709</c:v>
                </c:pt>
                <c:pt idx="8">
                  <c:v>0.7784</c:v>
                </c:pt>
                <c:pt idx="9">
                  <c:v>0.757</c:v>
                </c:pt>
                <c:pt idx="10">
                  <c:v>0.7687</c:v>
                </c:pt>
                <c:pt idx="11">
                  <c:v>0.757</c:v>
                </c:pt>
                <c:pt idx="12">
                  <c:v>0.7725</c:v>
                </c:pt>
                <c:pt idx="13">
                  <c:v>0.7547</c:v>
                </c:pt>
                <c:pt idx="14">
                  <c:v>0.7698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c=0.5</c:v>
                  </c:pt>
                  <c:pt idx="10">
                    <c:v>F c=2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0.7504</c:v>
                </c:pt>
                <c:pt idx="1">
                  <c:v>0.7663</c:v>
                </c:pt>
                <c:pt idx="2">
                  <c:v>0.7753</c:v>
                </c:pt>
                <c:pt idx="3">
                  <c:v>0.7663</c:v>
                </c:pt>
                <c:pt idx="4">
                  <c:v>0.7753</c:v>
                </c:pt>
                <c:pt idx="5">
                  <c:v>0.7812</c:v>
                </c:pt>
                <c:pt idx="6">
                  <c:v>0.7871</c:v>
                </c:pt>
                <c:pt idx="7">
                  <c:v>0.7813</c:v>
                </c:pt>
                <c:pt idx="8">
                  <c:v>0.7814</c:v>
                </c:pt>
                <c:pt idx="9">
                  <c:v>0.7914</c:v>
                </c:pt>
                <c:pt idx="10">
                  <c:v>0.7681</c:v>
                </c:pt>
                <c:pt idx="11">
                  <c:v>0.7905</c:v>
                </c:pt>
                <c:pt idx="12">
                  <c:v>0.7955</c:v>
                </c:pt>
                <c:pt idx="13">
                  <c:v>0.7732</c:v>
                </c:pt>
                <c:pt idx="14">
                  <c:v>0.81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 편향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c=0.5</c:v>
                  </c:pt>
                  <c:pt idx="10">
                    <c:v>F c=2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-0.308</c:v>
                </c:pt>
                <c:pt idx="1">
                  <c:v>-0.21</c:v>
                </c:pt>
                <c:pt idx="2">
                  <c:v>-0.211</c:v>
                </c:pt>
                <c:pt idx="3">
                  <c:v>0.151</c:v>
                </c:pt>
                <c:pt idx="4">
                  <c:v>0.148</c:v>
                </c:pt>
                <c:pt idx="5">
                  <c:v>0.006</c:v>
                </c:pt>
                <c:pt idx="6">
                  <c:v>-0.27</c:v>
                </c:pt>
                <c:pt idx="7">
                  <c:v>-0.269</c:v>
                </c:pt>
                <c:pt idx="8">
                  <c:v>-0.192</c:v>
                </c:pt>
                <c:pt idx="9">
                  <c:v>-0.494</c:v>
                </c:pt>
                <c:pt idx="10">
                  <c:v>0.146</c:v>
                </c:pt>
                <c:pt idx="11">
                  <c:v>0.008</c:v>
                </c:pt>
                <c:pt idx="12">
                  <c:v>0.007</c:v>
                </c:pt>
                <c:pt idx="13">
                  <c:v>0.008</c:v>
                </c:pt>
                <c:pt idx="14">
                  <c:v>-0.273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-0.5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LQ 편향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 3번 b4</c:v>
                  </c:pt>
                  <c:pt idx="1">
                    <c:v>2 3번 b10</c:v>
                  </c:pt>
                  <c:pt idx="2">
                    <c:v>3 6번 b10</c:v>
                  </c:pt>
                  <c:pt idx="3">
                    <c:v>4 3번 자연혼재</c:v>
                  </c:pt>
                  <c:pt idx="4">
                    <c:v>5 6번 자연혼재</c:v>
                  </c:pt>
                  <c:pt idx="5">
                    <c:v>A fixed</c:v>
                  </c:pt>
                  <c:pt idx="6">
                    <c:v>B tied</c:v>
                  </c:pt>
                  <c:pt idx="7">
                    <c:v>C bounded</c:v>
                  </c:pt>
                  <c:pt idx="8">
                    <c:v>D free</c:v>
                  </c:pt>
                  <c:pt idx="9">
                    <c:v>E c=0.5</c:v>
                  </c:pt>
                  <c:pt idx="10">
                    <c:v>F c=2</c:v>
                  </c:pt>
                  <c:pt idx="11">
                    <c:v>G LQ c=0.5</c:v>
                  </c:pt>
                  <c:pt idx="12">
                    <c:v>H LQ c=0.75</c:v>
                  </c:pt>
                  <c:pt idx="13">
                    <c:v>I LQ c 학습</c:v>
                  </c:pt>
                  <c:pt idx="14">
                    <c:v>J b만 학습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-0.18</c:v>
                </c:pt>
                <c:pt idx="1">
                  <c:v>-0.204</c:v>
                </c:pt>
                <c:pt idx="2">
                  <c:v>-0.204</c:v>
                </c:pt>
                <c:pt idx="3">
                  <c:v>-0.204</c:v>
                </c:pt>
                <c:pt idx="4">
                  <c:v>-0.204</c:v>
                </c:pt>
                <c:pt idx="5">
                  <c:v>0.256</c:v>
                </c:pt>
                <c:pt idx="6">
                  <c:v>-0.229</c:v>
                </c:pt>
                <c:pt idx="7">
                  <c:v>-0.214</c:v>
                </c:pt>
                <c:pt idx="8">
                  <c:v>-0.208</c:v>
                </c:pt>
                <c:pt idx="9">
                  <c:v>-0.103</c:v>
                </c:pt>
                <c:pt idx="10">
                  <c:v>0.501</c:v>
                </c:pt>
                <c:pt idx="11">
                  <c:v>-0.106</c:v>
                </c:pt>
                <c:pt idx="12">
                  <c:v>0.104</c:v>
                </c:pt>
                <c:pt idx="13">
                  <c:v>-0.166</c:v>
                </c:pt>
                <c:pt idx="14">
                  <c:v>-0.192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-0.55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산사태 LS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0.75</c:v>
                  </c:pt>
                  <c:pt idx="2">
                    <c:v>1.00</c:v>
                  </c:pt>
                  <c:pt idx="3">
                    <c:v>1.25</c:v>
                  </c:pt>
                  <c:pt idx="4">
                    <c:v>1.50</c:v>
                  </c:pt>
                  <c:pt idx="5">
                    <c:v>1.75</c:v>
                  </c:pt>
                  <c:pt idx="6">
                    <c:v>2.00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-0.4976</c:v>
                </c:pt>
                <c:pt idx="1">
                  <c:v>-0.2177</c:v>
                </c:pt>
                <c:pt idx="2">
                  <c:v>0.0065</c:v>
                </c:pt>
                <c:pt idx="3">
                  <c:v>0.1062</c:v>
                </c:pt>
                <c:pt idx="4">
                  <c:v>0.1356</c:v>
                </c:pt>
                <c:pt idx="5">
                  <c:v>0.143</c:v>
                </c:pt>
                <c:pt idx="6">
                  <c:v>0.1464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액상화 LQ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0.75</c:v>
                  </c:pt>
                  <c:pt idx="2">
                    <c:v>1.00</c:v>
                  </c:pt>
                  <c:pt idx="3">
                    <c:v>1.25</c:v>
                  </c:pt>
                  <c:pt idx="4">
                    <c:v>1.50</c:v>
                  </c:pt>
                  <c:pt idx="5">
                    <c:v>1.75</c:v>
                  </c:pt>
                  <c:pt idx="6">
                    <c:v>2.00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-0.1055</c:v>
                </c:pt>
                <c:pt idx="1">
                  <c:v>0.1039</c:v>
                </c:pt>
                <c:pt idx="2">
                  <c:v>0.2561</c:v>
                </c:pt>
                <c:pt idx="3">
                  <c:v>0.3612</c:v>
                </c:pt>
                <c:pt idx="4">
                  <c:v>0.4271</c:v>
                </c:pt>
                <c:pt idx="5">
                  <c:v>0.4731</c:v>
                </c:pt>
                <c:pt idx="6">
                  <c:v>0.5008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-0.55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산사태 LS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0.75</c:v>
                  </c:pt>
                  <c:pt idx="2">
                    <c:v>1.00</c:v>
                  </c:pt>
                  <c:pt idx="3">
                    <c:v>1.25</c:v>
                  </c:pt>
                  <c:pt idx="4">
                    <c:v>1.50</c:v>
                  </c:pt>
                  <c:pt idx="5">
                    <c:v>1.75</c:v>
                  </c:pt>
                  <c:pt idx="6">
                    <c:v>2.00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0.4229</c:v>
                </c:pt>
                <c:pt idx="1">
                  <c:v>0.1946</c:v>
                </c:pt>
                <c:pt idx="2">
                  <c:v>0.0997</c:v>
                </c:pt>
                <c:pt idx="3">
                  <c:v>0.1103</c:v>
                </c:pt>
                <c:pt idx="4">
                  <c:v>0.1327</c:v>
                </c:pt>
                <c:pt idx="5">
                  <c:v>0.1414</c:v>
                </c:pt>
                <c:pt idx="6">
                  <c:v>0.1443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액상화 LQ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5636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0.50</c:v>
                  </c:pt>
                  <c:pt idx="1">
                    <c:v>0.75</c:v>
                  </c:pt>
                  <c:pt idx="2">
                    <c:v>1.00</c:v>
                  </c:pt>
                  <c:pt idx="3">
                    <c:v>1.25</c:v>
                  </c:pt>
                  <c:pt idx="4">
                    <c:v>1.50</c:v>
                  </c:pt>
                  <c:pt idx="5">
                    <c:v>1.75</c:v>
                  </c:pt>
                  <c:pt idx="6">
                    <c:v>2.00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0.1933</c:v>
                </c:pt>
                <c:pt idx="1">
                  <c:v>0.1865</c:v>
                </c:pt>
                <c:pt idx="2">
                  <c:v>0.2493</c:v>
                </c:pt>
                <c:pt idx="3">
                  <c:v>0.333</c:v>
                </c:pt>
                <c:pt idx="4">
                  <c:v>0.3999</c:v>
                </c:pt>
                <c:pt idx="5">
                  <c:v>0.4512</c:v>
                </c:pt>
                <c:pt idx="6">
                  <c:v>0.4896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5636E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36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36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· 후속실험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9659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유도식 c = 1 이</a:t>
            </a:r>
            <a:endParaRPr lang="en-US" sz="4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산사태에서는 맞았다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977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항을 유도한 대로 두었을 때(a=1, b=0, c=1) 산사태 예측 편향이 +0.006이다.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액상화만 c를 0.62로 낮춰야 한다 — 두 hazard가 서로 다른 c를 원한다.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047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687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조건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852928" y="5047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5687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평가 행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138928" y="5047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138928" y="5687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평가 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24928" y="5047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424928" y="5687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스윕 격자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결론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7472" cy="3474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유도식 c = 1 이 산사태에서 정확히 맞는다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3911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편향이 0을 지나는 곳이 c_LS ≈ 0.99, MSE 최소도 c_LS = 1.0이다. A fixed의 편향 +0.006 / MSE 0.0998로 기저확률 0.1344를 크게 밑돈다. “격자 칸끼리 독립” 가정이 산사태에서는 성립한다.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90779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9535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620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액상화는 c 를 0.62로 낮춰야 한다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09544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c_LQ ≈ 0.62에서 편향이 0을 지난다. 액상화 감수성이 충적층을 따라 공간적으로 상관돼 유효 칸 수가 명목보다 적다는 뜻이다. 두 hazard가 서로 다른 c를 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078224"/>
            <a:ext cx="347472" cy="347472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12394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0325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를 학습하면 오히려 나빠진다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b·a를 학습하는 B·C·J가 편향 −0.27, MSE 0.21~0.26으로 최악이다. prior의 자유도를 늘리는 것이 답이 아니다.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248656"/>
            <a:ext cx="347472" cy="347472"/>
          </a:xfrm>
          <a:prstGeom prst="ellipse">
            <a:avLst/>
          </a:prstGeom>
          <a:solidFill>
            <a:srgbClr val="8A9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52943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029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 데이터의 기여는 판정할 수 없다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55040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A·G·H·I는 보탠양이 +0.011~+0.015로 양수지만, 부트스트랩 95% 구간이 [−0.041, +0.073]으로 0을 포함한다. LS 평가에 음성이 20행뿐이기 때문이다.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조건이 똑같이 따르는 학습 설정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사이에서 실제로 달라지는 것은 prior 식의 a · b · c 몇 개뿐이다. 나머지는 전부 같다.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optimizer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· lr 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λ_γ (gamma L2)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회귀·likelihood 파라미터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44개 — 모든 조건에서 학습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prior 파라미터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조건마다 0~6개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2048256"/>
            <a:ext cx="5303520" cy="2560320"/>
          </a:xfrm>
          <a:prstGeom prst="roundRect">
            <a:avLst>
              <a:gd name="adj" fmla="val 214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231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정답(GT)은 학습에 전혀 쓰지 않는다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578608"/>
            <a:ext cx="4754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train()이 받는 것은 피해 통계와 USGS prior뿐이다. 정답은 학습이 끝난 뒤 evaluate()에서만 쓰인다.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정답 규칙을 바꿔도 모델은 한 줄도 바뀌지 않고 채점만 바뀐다. 같은 시험지를 다시 채점하는 것이지 시험을 다시 보는 것이 아니다.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통계 XLSX  +  USGS prior XLSX   →   train()   →   posterior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/ LF 정답 XLSX   →   evaluate()   ← 여기서만 쓰인다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조건마다 브랜치가 다르다. 면적 항 조건은 prior.py / loader.py 자체가 다르기 때문에 한 checkout에서 전부 돌 수 없고, run_followup3.py가 조건별로 git worktree를 띄운다.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정답(GT) 규칙 — 여기서 결론이 갈린다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NA는 “없었다”가 아니라 “모른다”다. 정답지가 0과 NA를 의도적으로 갈라 놓았다.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2651760"/>
                <a:gridCol w="137160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제외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기본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ls_flag =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(또는 면적 &gt; 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ls_flag = 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(또는 면적 = 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② ④ 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자연+혼재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ls_type ∈ {자연, 혼재}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밖 전부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(인공·불명·빈칸·NA)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(4·5번)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— jshis_flag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과 NA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구마모토·훗카이도·노토반도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— lq_flag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 6개 이벤트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59028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7731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LS의 NA를 빼나 — 정답지가 그렇게 적었다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120640"/>
            <a:ext cx="4846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ls_flag = 0 :「조사표에 행이 있고 산사태 칸만 비었다 = 調査対象이고 0」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 :「調査の有無自体を確認できずNA」「항공사진 판독범위 밖」「신고 기반이라 산지 내부를 못 잡을 수 있어 NA」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적힌 NA 149행 중 “확인 결과 없었다”는 행은 하나도 없다.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459028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47731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③만 제외가 없나 — 질문이 다르다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5120640"/>
            <a:ext cx="4846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③이 묻는 것은 “이 시정촌에서 자연사면 붕괴가 확인되었는가”다.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질문에는 인공만 무너졌든, 종별을 모르든, 기록이 아예 없든 답이 모두 “아니오”다.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반면 기본 규칙의 “산사태가 있었는가”에는 답을 모르는 행이 실제로 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집합과 지표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822960"/>
                <a:gridCol w="822960"/>
                <a:gridCol w="9144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집합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이벤트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MSE 기저확률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기본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자연+혼재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83080"/>
            <a:ext cx="4023360" cy="1536192"/>
          </a:xfrm>
          <a:prstGeom prst="roundRect">
            <a:avLst>
              <a:gd name="adj" fmla="val 3571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9659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LS 음성이 20행뿐이다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31343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이벤트 중 4개는 음성이 0개라 AUC를 잴 수조차 없어 빠진다. AUC 차이는 통계적으로 구분되지 않는다.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가중평균 AUC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487168" y="3611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이벤트마다 AUC를 재고 그 이벤트의 평가 행 수로 가중평균한다. 이벤트를 섞는 pooled AUC는 다른 지진 사이의 쌍까지 채점해 의미가 없다.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87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 prior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487168" y="40873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USGS p̄ 단독. 면적 항도 학습도 거치지 않은 값.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562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prior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487168" y="45628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조건의 prior sigmoid(z) 단독. 면적 항과 학습된 a·b·c가 들어 있고 피해 데이터만 안 거쳤다.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038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면적항 기여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487168" y="503834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prior − 원값 prior. 면적 항이 prior 순위에 보탠 양.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513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보탠양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487168" y="551383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posterior − 자기 prior. 피해 데이터가 보탠 양. 음수면 오히려 깎았다는 뜻.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989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편향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487168" y="59893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예측확률 − 실제 양성률. 0이 정답. 양수면 과대예측.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 15개 조건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03120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5798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993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교수님 피드백 — b 범위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340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· 교수님 지시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21396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상한을 4 / 10으로 넓혀 안쪽에서 멈추는지 본다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4436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218688"/>
            <a:ext cx="420624" cy="420624"/>
          </a:xfrm>
          <a:prstGeom prst="ellipse">
            <a:avLst/>
          </a:prstGeom>
          <a:solidFill>
            <a:srgbClr val="2C7A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2735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1089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자연+혼재 GT 재평가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· 교수님 지시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32552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②의 모델을 그대로 두고 LS 정답만 자연사면으로 좁힌다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3342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38912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224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· A~F 지시 / G~J 추가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36208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a·log p̄ + b + c·log k 의 a·b·c를 어떻게 다룰지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7550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5449824"/>
            <a:ext cx="420624" cy="420624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50468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53400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계수 c 훑기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49점+ · ④ 결과를 보고 추가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c를 0.5~2.0 격자로 돌려 최적값을 찾는다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같은 데이터 · 같은 seed · lam_gamma = 10.  정답은 학습에 쓰지 않으므로 ③은 학습을 다시 하지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교수님 피드백 — b 상한을 넓히면 안쪽에서 멈추는가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 식은  z = a · logit(p̄) + b  하나뿐이다(면적 항 없음). a는 USGS 값을 얼마나 믿을지(기울기), b는 확률 수준을 위아래로 옮기는 값(높이)이고, a ∈ [0.5, 2]다.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2651760"/>
                <a:gridCol w="914400"/>
                <a:gridCol w="1051560"/>
                <a:gridCol w="132588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집계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범위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학습된 b_LS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보려는 조건인가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followup1-1-wood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작년 실험. 비교 출발점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followup2-1-wood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작년 실험. LQ 집계만 다르다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followup3-avg-b4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3.954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상한을 4로 넓혀 본다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followup3-avg-b10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9.523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상한을 10까지 넓혀 본다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followup3-lqmax-b10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[−2, 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9.589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2번과 같되 LQ를 최대집계로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224528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답: 안 멈춘다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754880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b_LS가 상한 4에서 3.954, 상한 10에서 9.523으로 둘 다 끝에 붙는다.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최적값을 찾은 것이 아니라 잘린 것이다.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B에서 다시 보면 이 조건들은 편향이 −0.21 ~ −0.31로 확률을 크게 과소예측한다. b를 키우는 방향 자체가 틀렸다.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4224528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vs 6번의 차이는 하나뿐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4754880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prior를 시정촌 안 격자들의 평균으로 집계하느냐, 최대로 집계하느냐.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최대집계가 LQ prior AUC를 0.7154 → 0.8372로 크게 올린다. 그런데 posterior는 0.775에 그쳐 −0.062로 오히려 깎는다 — 좋아진 prior를 모델이 망가뜨린다.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자연+혼재 재평가 — 학습을 다시 하지 않는다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USGS 산사태 사전모형(Nowicki Jessee 2018)이 설명하는 것은 자연사면의 붕괴다. 그런데 정답의 양성에는 성토·옹벽·법면 같은 인공사면 붕괴가 섞여 있다. 모형이 원리적으로 맞힐 수 없는 사건까지 양성으로 세고 있는 셈이라, 자연·혼재만 양성으로 두고 다시 채점한다.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3931920"/>
                <a:gridCol w="32918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브랜치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이름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자연혼재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followup3-avg-b10  (2번과 동일)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followup3-avg-b10-natmix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418행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자연혼재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followup3-lqmax-b10  (3번과 동일)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followup3-lqmax-b10-natmix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418행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4290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3611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브랜치를 따로 만들지 않는다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959352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학습이 정답을 전혀 쓰지 않으므로 같은 seed면 모델이 완전히 같다. 2·3번 브랜치에서 --gt-variant natmix 옵션만 켜고 결과 파일 이름으로 구분한다.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34290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3611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평가가 넓어진다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3959352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125행(양성률 84%) → 418행(양성률 18.4%). 제외하는 행이 없기 때문이다. 음성이 20행 → 341행이 되어 AUC가 훨씬 안정된다.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66928" y="5029200"/>
          <a:ext cx="53949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6236208" y="50292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10528" y="5212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여기서도 posterior가 prior를 못 넘는다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510528" y="55595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−0.041 / −0.040. LS MSE는 0.1404 / 0.1371로 기저확률 0.1503을 밑돌아 눈금은 괜찮다. 편향은 +0.15로 과대예측이 남는다.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항 A~J — 무엇을 왜 넣었나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9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a · log p̄ + b + c · (log k − m)      k = 시정촌 면적 ÷ 격자 한 칸 넓이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2024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USGS 값 p̄는 “발생 확률”이 아니라 “격자 한 칸 중 덮이는 면적 비율”이다. 넓은 시정촌일수록 한 곳이라도 무너질 확률이 높다. 칸이 독립이면 λ = p̄ × k 이고 P(하나라도) = 1 − exp(−λ). 포화를 피해 순위가 같은 log λ = log p̄ + log k 를 쓴다 — 그래서 a=1, b=0, c=1 이 유도식 그대로이고, 면적 항이 있는 조건만 logit이 아니라 log를 쓴다.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7004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47472"/>
                <a:gridCol w="914400"/>
                <a:gridCol w="1691640"/>
                <a:gridCol w="658368"/>
                <a:gridCol w="749808"/>
                <a:gridCol w="658368"/>
                <a:gridCol w="658368"/>
                <a:gridCol w="658368"/>
                <a:gridCol w="658368"/>
                <a:gridCol w="530352"/>
                <a:gridCol w="2990088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브랜치 followup3-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a_LS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b_LS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a_LQ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b_LQ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보려는 조건인가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fixed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avg-fixed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아무것도 학습 안 함 — 기준점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avg-tied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→4.91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면적의 힘을 USGS와 같게 묶고 크기만 학습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bounded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avg-bounded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→1.98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→11.06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면적의 힘은 1로 두고 기울기·높이만 학습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free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avg-free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→1.86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→11.49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여섯 값 전부 데이터에 맡긴다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c=0.5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avg-a1-c05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면적의 영향을 절반으로 줄여 고정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c=2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avg-a1-c2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면적의 영향을 두 배로 키워 고정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lq-c05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avg-lq-c05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액상화 쪽만 절반 (LS는 A와 동일)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lq-c075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avg-lq-c075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액상화 쪽만 0.75 (LS는 A와 동일)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lq-c-free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avg-lq-c-free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→0.43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액상화 쪽 c만 데이터가 고른다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b-only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avg-b-only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→5.53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→2.69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순위는 유도식대로, 확률 높이만 보정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0.62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area-sweep (격자)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스윕이 찾아낸 최적점을 조건으로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54681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= USGS를 얼마나 믿을지(기울기)     b = 확률 높이     c = 면적을 얼마나 반영할지     ‘학습’은 prior의 a·b·c 중 학습하는 개수 (회귀 44개는 늘 학습)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 붙은 값은 고정값이 아니라 학습 결과다.  범위는 a ∈ [0.5, 2] · b ∈ [−20, 20] · c ∈ [0, 2].  예: I 는 “c_LQ 를 [0,2]에서 학습” 이 설계이고 0.43 은 돌려서 나온 답이다.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 회색: 교수님이 지시하신 A~F     주황: 실험 도중 만든 G·H·I     초록: 요청으로 추가한 J     파랑: ⑤ 스윕이 찾아낸 K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b를 학습하는 B·C·D·J만 log k를 평균 중심화한다(m = LS 8.042 / LQ 6.656). b=0 고정 조건은 중심화하지 않는다 — 빼면 유도식이 깨진다.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 · H · I · J 는 왜 그 값으로 정했나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A~F를 돌리고 나서 관찰된 것: 같은 c = 1 인데 두 hazard의 눈금이 정반대로 어긋난다.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= 0.5  (E)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= 1.0  (A)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= 2.0  (F)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산사태 LS 편향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−0.494  무너짐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  거의 완벽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액상화 LQ 편향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+0.256  크게 과대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hazard가 서로 다른 c를 원한다.  LS는 유도값 1을 건드리지 말고, LQ만 내려 보자.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3648456"/>
            <a:ext cx="310896" cy="310896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36850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c_LQ = 0.5 고정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361188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E에서 이미 확인된 반대쪽 값. LQ 편향이 −0.103으로 부호가 뒤집히는 지점을 그대로 가져왔다.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4361688"/>
            <a:ext cx="310896" cy="310896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3982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c_LQ = 0.75 고정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401568" y="432511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관찰값 두 개(0.5 → −0.103, 1.0 → +0.256)로 편향 0 교차점을 선형 추정하면 0.643이다. 0.25 간격 격자에서 그 위쪽 점을 잡았다.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5074920"/>
            <a:ext cx="310896" cy="310896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511149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" y="5038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c_LQ 만 학습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503834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말고 우도가 고르게 둔다. c ∈ [0, 2]에서 학습해 0.434로 수렴했다.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5788152"/>
            <a:ext cx="310896" cy="310896"/>
          </a:xfrm>
          <a:prstGeom prst="ellipse">
            <a:avLst/>
          </a:prstGeom>
          <a:solidFill>
            <a:srgbClr val="2C7A5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6928" y="582472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24128" y="5751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만 학습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575157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c를 건드리면 순위까지 같이 움직인다. b는 z에 더해지는 상수라 hazard 안에서 순위를 전혀 바꾸지 않고 확률 높이만 옮긴다 — 눈금을 고치는 올바른 손잡이는 c가 아니라 b라는 가설.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550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스윕이 나중에 실제 교차점을 c_LQ ≈ 0.618 로 확정했다.  G(0.5)와 H(0.75)가 정답을 사이에 두고 있었고, 선형 추정 0.643은 0.02 차이로 맞았다.  반면 I가 학습한 0.434는 아래로 지나쳤다.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계수 c 훑기 — 유도값 1이 정말 맞나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④에서 c를 0.5 / 1 / 2 세 점으로만 봤다. 그 사이와 바깥을 직접 돌려 편향이 0을 지나는 c를 찾는다. AreaPrior(mode="grid")로 c_LS와 c_LQ를 직접 지정하고 a=1, b=0은 고정하므로 prior에서 학습하는 값이 0개다 — 순수하게 c만 다른 실험이다.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followup3-area-sweep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거친 격자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c_LS × c_LQ ∈ {0.5, 0.75, 1.0, 1.25, 1.5, 1.75, 2.0}  =  49점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미세 격자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최적점 주변 0.05 간격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prior 파라미터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격자점 (1.0, 1.0)이 조건 A와 완전히 일치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663440"/>
            <a:ext cx="5394960" cy="1645920"/>
          </a:xfrm>
          <a:prstGeom prst="roundRect">
            <a:avLst>
              <a:gd name="adj" fmla="val 333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846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hazard의 c는 서로 간섭하지 않는다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193792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c를 0.5~2.0으로 바꿔도 다른 쪽 편향은 0.004 안에서만 움직인다.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c_LS와 c_LQ를 따로 골라도 된다는 뜻이고, 실제로 두 값이 크게 다르게 나왔다.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6208" y="4663440"/>
            <a:ext cx="5394960" cy="1645920"/>
          </a:xfrm>
          <a:prstGeom prst="roundRect">
            <a:avLst>
              <a:gd name="adj" fmla="val 3333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4846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재학습이 필요한가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5193792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학습에 안 쓰이지만 c는 prior를 바꾸므로 posterior가 달라진다. 그래서 c마다 회귀 44개를 새로 적합한다.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 14초, 49점에 12분이다.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편향을 실제로 어떻게 재고, 그걸로 무엇을 정하나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양성률은 정답이라 c와 무관하게 고정이다(LS 105/125 = 0.840, LQ 109/229 = 0.476). c를 바꾸면 모델이 내놓는 평균 예측확률만 움직인다. 그 둘의 차이가 편향이다.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097280"/>
                <a:gridCol w="1188720"/>
                <a:gridCol w="137160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평균예측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실제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편향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평균예측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실제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편향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006840" y="219456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81160" y="23774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가 커지면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2724912"/>
            <a:ext cx="20574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c·log k 항이 커져 z 가 커지고 sigmoid(z) 가 1 에 붙는다.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c 가 클수록 모델이 “확률이 높다”고 말한다.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983480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5166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 = 0 인 c 를 고른다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5513832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예측이 쓸모 있으려면 “30%라고 한 곳에서 실제로 30%쯤 일어나야” 한다. 평균부터 안 맞으면 그 확률을 숫자로 쓸 수 없다.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LS는 1.00 근처, LQ는 0.50과 0.75 사이에서 0을 지난다.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6208" y="4983480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10528" y="5166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 최소도 같은 자리인지 본다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510528" y="5513832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편향만 0이고 MSE가 나쁘면 “평균만 맞고 개별 예측은 엉망”일 수 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LS는 c=1.0에서 MSE 0.0997, LQ는 c=0.625에서 0.1765로 둘 다 같은 자리다 — 믿을 만하다.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62025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편향과 MSE는 평가 행 전체를 모아 한 번 계산한다(평균이므로).  AUC만 이벤트별로 재서 행 수로 가중평균한다.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산사태 LS — 자기 prior vs posterior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회색이 자기 prior 단독, 색이 posterior다. 색 막대가 회색보다 길어야 피해 데이터가 보탠 것이 있다.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가중평균 AUC · ①②④는 125행 / ③은 418행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244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1945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G · H · I 가 넘는다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542032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조건 모두 c_LS = 1 이고 b = 0 고정이다. 보탠양 +0.011 ~ +0.015.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다만 부트스트랩 95% 구간이 [−0.041, +0.073]으로 0을 포함한다. LS 평가에 음성이 20행뿐이라 AUC로는 판정할 수 없다.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F(c=2)는 prior가 0.868로 가장 높지만 편향 +0.146으로 눈금이 나쁘다 — 순위가 좋은 c와 눈금이 맞는 c가 다르다.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액상화 LQ — 자기 prior vs posterior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LQ는 정답 규칙을 바꾸지 않았다. 229행 그대로다.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가중평균 AUC · 229행 · 양성률 47.6%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244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1945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보탠다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542032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 중 13개가 자기 prior를 넘는다(+0.003 ~ +0.040). J(b만 학습)가 0.8100 / +0.040으로 1위다.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예외는 3·5번(LQ 최대집계)과 F다. 3·5번은 prior가 0.837로 가장 좋은데 posterior가 0.775에 그쳐 −0.062로 가장 크게 깎는다.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LS와 정반대 그림이다.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편향 — 여기가 진짜 지표다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예측확률 − 실제 양성률. 0이 정답이고 양수면 과대예측이다. 음성이 20행뿐이라 AUC는 못 믿지만 편향과 MSE는 행 전체를 쓰므로 훨씬 안정적이다.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9456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36208" y="219456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5897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산사태 LS — 실제 양성률 0.840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36208" y="5897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액상화 LQ — 실제 양성률 0.476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2362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G · H · I 는 LS 편향이 0.008 안이다.  b를 학습하는 B · C · J 는 −0.27 로 최악이고, E(c=0.5)는 −0.494 로 무너진다.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⑤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산사태는 c = 1, 액상화는 c = 0.62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c를 0.5부터 2.0까지 직접 돌린 결과다. 편향이 0을 지나는 자리가 두 hazard에서 크게 다르다.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1031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983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편향 — 0이 정답.  가로축 c</a:t>
            </a:r>
            <a:endParaRPr lang="en-US" sz="10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36208" y="21031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36208" y="4983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 — 낮을수록 좋음.  기저확률 LS 0.1344 / LQ 0.2494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66928" y="5321808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" y="5504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산사태 — 유도값이 맞는다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585216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 0 교차 c_LS ≈ 0.99, MSE 최소 c_LS = 1.0 (0.0997). “칸끼리 독립” 가정이 성립한다.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36208" y="5321808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10528" y="5504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액상화 — 낮춰야 한다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510528" y="585216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 0 교차 c_LQ ≈ 0.62, MSE 최소 0.625 (0.1765). 감수성이 충적층을 따라 상관돼 유효 칸 수가 적다.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갈래 ⑤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값을 실제 조건으로 돌려봤다 — 조건 K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스윕은 격자 위의 곡선일 뿐이다. 거기서 읽은 c_LS = 1.0 · c_LQ = 0.62 를 실제 조건으로 한 번 돌려 확인했다. prior에서 학습하는 값은 여전히 0개다.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93268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554480"/>
                <a:gridCol w="1280160"/>
                <a:gridCol w="1280160"/>
                <a:gridCol w="1280160"/>
                <a:gridCol w="1280160"/>
                <a:gridCol w="128016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AUC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MSE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편향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AUC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MSE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편향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 = 0.62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 = 0.75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 = 0.50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 = 0.43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c_LQ = 1.00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6177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LS는 c_LS = 1 로 모두 같아서 A · G · I 와 동일하다.  달라지는 것은 LQ 쪽뿐이다.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49834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5166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눈금이 확실히 좋아진다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5513832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 +0.104(H) → +0.002,  MSE 0.1868(H) → 0.1764.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hazard 모두 편향이 0.007 안에 드는 조건은 K 하나뿐이다.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6208" y="49834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DF4F7"/>
          </a:solidFill>
          <a:ln w="12700">
            <a:solidFill>
              <a:srgbClr val="ED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0528" y="5166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스윕이 한 일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5513832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G(0.5)와 H(0.75)가 정답을 사이에 두고 더듬고 있었다. 스윕이 그 사이를 촘촘히 훑어 0.62로 좁혔고, K가 그것을 확인했다.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15개 조건</a:t>
            </a:r>
            <a:endParaRPr lang="en-US" sz="2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34440"/>
                <a:gridCol w="566928"/>
                <a:gridCol w="777240"/>
                <a:gridCol w="777240"/>
                <a:gridCol w="777240"/>
                <a:gridCol w="914400"/>
                <a:gridCol w="914400"/>
                <a:gridCol w="914400"/>
                <a:gridCol w="914400"/>
                <a:gridCol w="1005840"/>
                <a:gridCol w="914400"/>
                <a:gridCol w="969264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원값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보탠양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MSE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편향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post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보탠양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MSE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편향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b10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b10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 자연혼재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6번 자연혼재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fixed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bounded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free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c=0.5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c=2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c=0.5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c=0.75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 학습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b만 학습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 = USGS p̄ 단독 · 자기 = 그 조건의 prior 단독 · 보탠양 = post − 자기.  MSE 기저확률: LS 0.1344 (4·5번은 0.1503) / LQ 0.2494.  초록 = LS 보탠양이 양수인 네 조건.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조건이 좋은가는 정답 규칙에 종속된다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A~J를 자연+혼재 정답(418행)으로도 채점했다. 모델은 한 줄도 바뀌지 않았고 채점만 바꿨는데, 순위가 정확히 뒤집힌다.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325880"/>
                <a:gridCol w="1234440"/>
                <a:gridCol w="1234440"/>
                <a:gridCol w="1508760"/>
                <a:gridCol w="1508760"/>
                <a:gridCol w="38679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MSE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편향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자연혼재 MSE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자연혼재 편향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bounded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학습 — 확률 높이를 낮출 수 있다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c=0.5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 영향이 작아 확률이 낮다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학습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b만 학습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학습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free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학습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fixed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= 0 고정 — 높이를 못 바꾼다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c=0.5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= 0 고정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c=0.75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= 0 고정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LQ c 학습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= 0 고정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c=2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63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면적을 두 배로 — 양쪽 다 과대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120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= MSE가 그 기준의 기저확률보다 낮다.  기저확률: 기본 0.1344 (양성률 84.0%) / 자연+혼재 0.1503 (양성률 18.4%)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5468112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5650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= 0 고정 조건이 뒤집히는 이유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599846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A·G·H·I는 확률 높이가 묶여 있어 양성률 84%에는 맞지만 18.4%에는 +0.50 과대예측이 된다. b를 학습하는 C는 거기에 맞춰 내려간다.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6208" y="5468112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0528" y="5650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순위(AUC)는 그나마 안정적이다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599846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자연+혼재에서도 C가 AUC 0.8812로 1위, 보탠양 −0.008로 가장 작다. 눈금(MSE·편향)이 기준에 훨씬 민감하다.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다음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" y="17373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평가가 125행 · 음성 20행 · 이벤트 5개뿐이다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04825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판의 가장 큰 제약이다. NA 304행을 되살리려면 「조사 대상이었음이 확인되나 기록 없음」과 「조사 여부 불명」을 근거별로 갈라야 한다. location_note가 구조화되어 있어 149행은 분류 가능하고, 면적 시트 4개(155행)는 원자료를 다시 봐야 한다.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201168" cy="201168"/>
          </a:xfrm>
          <a:prstGeom prst="ellipse">
            <a:avLst/>
          </a:prstGeom>
          <a:solidFill>
            <a:srgbClr val="C977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9264" y="2670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③과 ④·⑤를 결합하지 않았다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98094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A~J는 전부 기본 규칙 125행으로만 채점했다. predictions_*.csv에 418행 전부의 예측이 있으므로 재학습 없이 재채점만 하면 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675888"/>
            <a:ext cx="201168" cy="201168"/>
          </a:xfrm>
          <a:prstGeom prst="ellipse">
            <a:avLst/>
          </a:prstGeom>
          <a:solidFill>
            <a:srgbClr val="2C7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9264" y="36027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c_LS = 1.0, c_LQ ≈ 0.62 를 정식 조건으로 안 돌렸다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9136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스윕 격자 위의 점으로만 확인했다. 브랜치를 만들어 정식 조건으로 올려야 한다.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60857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9264" y="45354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LQ 최대집계 + 면적 항을 안 해봤다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4846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LQ prior(0.8372)와 면적 항을 한 번도 같이 쓰지 않았다. λ = p̄·k 유도가 평균집계를 전제하므로 이론 정리가 먼저다.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541264"/>
            <a:ext cx="201168" cy="201168"/>
          </a:xfrm>
          <a:prstGeom prst="ellipse">
            <a:avLst/>
          </a:prstGeom>
          <a:solidFill>
            <a:srgbClr val="8A9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" y="54681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b를 학습하면 나빠지는지 모른다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57790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B·C·J의 편향이 −0.27이다. 양성률 84%짜리 좁은 집합에서 우도가 b를 어느 방향으로 끄는지 확인이 필요하다.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19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재현:  python run_followup3.py --data-dir .        정답 규칙은 loader.py에 있고 학습에는 쓰이지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1C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판에서 무엇이 뒤집혔나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판은 LS 정답의 NA를 0으로 세었다(418행). 정답지 정의를 확인한 뒤 NA를 평가에서 빼는 원래 규칙으로 되돌렸고, 다음이 뒤집혔다. 모델은 하나도 바뀌지 않았다 — 채점만 바뀌었다.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이전 판 (NA → 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(NA 평가 제외)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 c_LS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 ≈ 유도값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fixed 편향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+0.436  (크게 과대예측)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 c=0.5 편향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−0.494  (무너짐)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학습 (B·C·J) 편향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 ~ +0.09  (양호)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  (최악)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보탠양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15개 중 14개 음수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A·G·H·I 양수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평가 집합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418행 · 양성률 25.1%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C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125행 · 양성률 84.0%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956048"/>
            <a:ext cx="11064240" cy="1572768"/>
          </a:xfrm>
          <a:prstGeom prst="roundRect">
            <a:avLst>
              <a:gd name="adj" fmla="val 348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51389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7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이렇게 크게 갈리나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486400"/>
            <a:ext cx="10515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 304행은 대부분 산림 내부·판독 범위 밖처럼 prior가 어차피 낮게 매기는 곳이다. 그것을 전부 “정답 음성”으로 만들면 prior에 유리한 쉬운 문제가 293개 추가된다.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63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그러면 prior AUC가 0.797 → 0.878로 오르고, 확률을 크게 부풀리는 조건(c=1, A fixed)이 상대적으로 잘 맞아 보인다. 정답 정의 하나가 결론 전체를 좌우했다.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후속실험 3</dc:title>
  <dc:subject>PptxGenJS Presentation</dc:subject>
  <dc:creator>Pilot A</dc:creator>
  <cp:lastModifiedBy>Pilot A</cp:lastModifiedBy>
  <cp:revision>1</cp:revision>
  <dcterms:created xsi:type="dcterms:W3CDTF">2026-09-16T17:54:47Z</dcterms:created>
  <dcterms:modified xsi:type="dcterms:W3CDTF">2026-09-16T17:54:47Z</dcterms:modified>
</cp:coreProperties>
</file>